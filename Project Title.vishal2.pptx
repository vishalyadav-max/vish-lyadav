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3" d="100"/>
          <a:sy n="113" d="100"/>
        </p:scale>
        <p:origin x="51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96A752C-8BA7-4926-B19B-862A335AED2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3546C5B7-0DFC-4088-86C3-5B2724DB03C6}">
      <dgm:prSet custT="1"/>
      <dgm:spPr/>
      <dgm:t>
        <a:bodyPr/>
        <a:lstStyle/>
        <a:p>
          <a:r>
            <a:rPr lang="en-US" sz="1600" b="1" dirty="0">
              <a:latin typeface="Times New Roman" panose="02020603050405020304" pitchFamily="18" charset="0"/>
              <a:cs typeface="Times New Roman" panose="02020603050405020304" pitchFamily="18" charset="0"/>
            </a:rPr>
            <a:t>Student </a:t>
          </a:r>
          <a:r>
            <a:rPr lang="en-US" sz="1400" b="1" dirty="0">
              <a:latin typeface="Times New Roman" panose="02020603050405020304" pitchFamily="18" charset="0"/>
              <a:cs typeface="Times New Roman" panose="02020603050405020304" pitchFamily="18" charset="0"/>
            </a:rPr>
            <a:t>Name</a:t>
          </a:r>
          <a:r>
            <a:rPr lang="en-US" sz="1600" b="1" dirty="0">
              <a:latin typeface="Times New Roman" panose="02020603050405020304" pitchFamily="18" charset="0"/>
              <a:cs typeface="Times New Roman" panose="02020603050405020304" pitchFamily="18" charset="0"/>
            </a:rPr>
            <a:t> : Vishal </a:t>
          </a:r>
          <a:r>
            <a:rPr lang="en-US" sz="1600" b="1" dirty="0" err="1">
              <a:latin typeface="Times New Roman" panose="02020603050405020304" pitchFamily="18" charset="0"/>
              <a:cs typeface="Times New Roman" panose="02020603050405020304" pitchFamily="18" charset="0"/>
            </a:rPr>
            <a:t>jayprakash</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yadav</a:t>
          </a:r>
          <a:endParaRPr lang="en-IN" sz="1600" dirty="0">
            <a:latin typeface="Times New Roman" panose="02020603050405020304" pitchFamily="18" charset="0"/>
            <a:cs typeface="Times New Roman" panose="02020603050405020304" pitchFamily="18" charset="0"/>
          </a:endParaRPr>
        </a:p>
      </dgm:t>
    </dgm:pt>
    <dgm:pt modelId="{6EBAA2BB-82B6-4484-B1BD-D14A798A1ADE}" type="parTrans" cxnId="{C8B636D1-4CF8-4F0C-81CA-8F33778B3095}">
      <dgm:prSet/>
      <dgm:spPr/>
      <dgm:t>
        <a:bodyPr/>
        <a:lstStyle/>
        <a:p>
          <a:endParaRPr lang="en-IN"/>
        </a:p>
      </dgm:t>
    </dgm:pt>
    <dgm:pt modelId="{E6C8B30F-6E5B-410A-898A-F76BBD2C2FAD}" type="sibTrans" cxnId="{C8B636D1-4CF8-4F0C-81CA-8F33778B3095}">
      <dgm:prSet/>
      <dgm:spPr/>
      <dgm:t>
        <a:bodyPr/>
        <a:lstStyle/>
        <a:p>
          <a:endParaRPr lang="en-IN"/>
        </a:p>
      </dgm:t>
    </dgm:pt>
    <dgm:pt modelId="{BB6DE09D-CAA2-4306-9849-9B3D384B3375}">
      <dgm:prSet custT="1"/>
      <dgm:spPr/>
      <dgm:t>
        <a:bodyPr/>
        <a:lstStyle/>
        <a:p>
          <a:r>
            <a:rPr lang="en-US" sz="1400" b="1" dirty="0">
              <a:latin typeface="Times New Roman" panose="02020603050405020304" pitchFamily="18" charset="0"/>
              <a:cs typeface="Times New Roman" panose="02020603050405020304" pitchFamily="18" charset="0"/>
            </a:rPr>
            <a:t>Enrollment</a:t>
          </a:r>
          <a:r>
            <a:rPr lang="en-US" sz="1600" b="1" dirty="0">
              <a:latin typeface="Times New Roman" panose="02020603050405020304" pitchFamily="18" charset="0"/>
              <a:cs typeface="Times New Roman" panose="02020603050405020304" pitchFamily="18" charset="0"/>
            </a:rPr>
            <a:t> no: 249810307045</a:t>
          </a:r>
          <a:endParaRPr lang="en-IN" sz="1600" dirty="0">
            <a:latin typeface="Times New Roman" panose="02020603050405020304" pitchFamily="18" charset="0"/>
            <a:cs typeface="Times New Roman" panose="02020603050405020304" pitchFamily="18" charset="0"/>
          </a:endParaRPr>
        </a:p>
      </dgm:t>
    </dgm:pt>
    <dgm:pt modelId="{EDA24881-01B5-4164-822E-7966F97F74AB}" type="parTrans" cxnId="{CBAF7992-3F5E-4029-A229-AA8969D0E256}">
      <dgm:prSet/>
      <dgm:spPr/>
      <dgm:t>
        <a:bodyPr/>
        <a:lstStyle/>
        <a:p>
          <a:endParaRPr lang="en-IN"/>
        </a:p>
      </dgm:t>
    </dgm:pt>
    <dgm:pt modelId="{42188A24-116D-48AD-8200-2778D2068ACE}" type="sibTrans" cxnId="{CBAF7992-3F5E-4029-A229-AA8969D0E256}">
      <dgm:prSet/>
      <dgm:spPr/>
      <dgm:t>
        <a:bodyPr/>
        <a:lstStyle/>
        <a:p>
          <a:endParaRPr lang="en-IN"/>
        </a:p>
      </dgm:t>
    </dgm:pt>
    <dgm:pt modelId="{E4DBADE1-E68D-4898-85FD-71D4D9DE3429}">
      <dgm:prSet custT="1"/>
      <dgm:spPr/>
      <dgm:t>
        <a:bodyPr/>
        <a:lstStyle/>
        <a:p>
          <a:r>
            <a:rPr lang="en-US" sz="1400" b="1" dirty="0">
              <a:latin typeface="Times New Roman" panose="02020603050405020304" pitchFamily="18" charset="0"/>
              <a:cs typeface="Times New Roman" panose="02020603050405020304" pitchFamily="18" charset="0"/>
            </a:rPr>
            <a:t>College Name : Shree </a:t>
          </a:r>
          <a:r>
            <a:rPr lang="en-US" sz="1400" b="1" dirty="0" err="1">
              <a:latin typeface="Times New Roman" panose="02020603050405020304" pitchFamily="18" charset="0"/>
              <a:cs typeface="Times New Roman" panose="02020603050405020304" pitchFamily="18" charset="0"/>
            </a:rPr>
            <a:t>dhanvantari</a:t>
          </a:r>
          <a:r>
            <a:rPr lang="en-US" sz="1400" b="1" dirty="0">
              <a:latin typeface="Times New Roman" panose="02020603050405020304" pitchFamily="18" charset="0"/>
              <a:cs typeface="Times New Roman" panose="02020603050405020304" pitchFamily="18" charset="0"/>
            </a:rPr>
            <a:t> college of engineering and technology</a:t>
          </a:r>
          <a:br>
            <a:rPr lang="en-US" sz="1400" b="1" dirty="0">
              <a:latin typeface="Times New Roman" panose="02020603050405020304" pitchFamily="18" charset="0"/>
              <a:cs typeface="Times New Roman" panose="02020603050405020304" pitchFamily="18" charset="0"/>
            </a:rPr>
          </a:br>
          <a:endParaRPr lang="en-IN" sz="1400" dirty="0">
            <a:latin typeface="Times New Roman" panose="02020603050405020304" pitchFamily="18" charset="0"/>
            <a:cs typeface="Times New Roman" panose="02020603050405020304" pitchFamily="18" charset="0"/>
          </a:endParaRPr>
        </a:p>
      </dgm:t>
    </dgm:pt>
    <dgm:pt modelId="{C8079F5F-6E25-4EAF-B3EF-165491634D97}" type="parTrans" cxnId="{0768A27E-7C78-4CA6-B5EA-20A66E5A09D6}">
      <dgm:prSet/>
      <dgm:spPr/>
      <dgm:t>
        <a:bodyPr/>
        <a:lstStyle/>
        <a:p>
          <a:endParaRPr lang="en-IN"/>
        </a:p>
      </dgm:t>
    </dgm:pt>
    <dgm:pt modelId="{040B4A52-038B-47F8-A338-2C8F7BD7FF28}" type="sibTrans" cxnId="{0768A27E-7C78-4CA6-B5EA-20A66E5A09D6}">
      <dgm:prSet/>
      <dgm:spPr/>
      <dgm:t>
        <a:bodyPr/>
        <a:lstStyle/>
        <a:p>
          <a:endParaRPr lang="en-IN"/>
        </a:p>
      </dgm:t>
    </dgm:pt>
    <dgm:pt modelId="{07F68278-6FEC-4EFF-AE21-1F84832DAAB8}">
      <dgm:prSet custT="1"/>
      <dgm:spPr/>
      <dgm:t>
        <a:bodyPr/>
        <a:lstStyle/>
        <a:p>
          <a:r>
            <a:rPr lang="en-US" sz="1400" b="1" dirty="0">
              <a:latin typeface="Times New Roman" panose="02020603050405020304" pitchFamily="18" charset="0"/>
              <a:cs typeface="Times New Roman" panose="02020603050405020304" pitchFamily="18" charset="0"/>
            </a:rPr>
            <a:t>Branch and Year : computer science(2024-26)</a:t>
          </a:r>
          <a:endParaRPr lang="en-IN" sz="1400" dirty="0">
            <a:latin typeface="Times New Roman" panose="02020603050405020304" pitchFamily="18" charset="0"/>
            <a:cs typeface="Times New Roman" panose="02020603050405020304" pitchFamily="18" charset="0"/>
          </a:endParaRPr>
        </a:p>
      </dgm:t>
    </dgm:pt>
    <dgm:pt modelId="{AB83E124-F296-4542-BBA6-280503A89D17}" type="parTrans" cxnId="{3D517EA7-F592-464F-BC9B-EE3DC56FF6D0}">
      <dgm:prSet/>
      <dgm:spPr/>
      <dgm:t>
        <a:bodyPr/>
        <a:lstStyle/>
        <a:p>
          <a:endParaRPr lang="en-IN"/>
        </a:p>
      </dgm:t>
    </dgm:pt>
    <dgm:pt modelId="{8F118D25-B1AE-4E1C-AC10-1EFF1CE7909B}" type="sibTrans" cxnId="{3D517EA7-F592-464F-BC9B-EE3DC56FF6D0}">
      <dgm:prSet/>
      <dgm:spPr/>
      <dgm:t>
        <a:bodyPr/>
        <a:lstStyle/>
        <a:p>
          <a:endParaRPr lang="en-IN"/>
        </a:p>
      </dgm:t>
    </dgm:pt>
    <dgm:pt modelId="{07F2D415-522A-41DC-A8E9-BCFBCA195962}">
      <dgm:prSet custT="1"/>
      <dgm:spPr/>
      <dgm:t>
        <a:bodyPr/>
        <a:lstStyle/>
        <a:p>
          <a:r>
            <a:rPr lang="en-US" sz="1400" b="1" dirty="0">
              <a:latin typeface="Times New Roman" panose="02020603050405020304" pitchFamily="18" charset="0"/>
              <a:cs typeface="Times New Roman" panose="02020603050405020304" pitchFamily="18" charset="0"/>
            </a:rPr>
            <a:t>Branch code:07</a:t>
          </a:r>
          <a:endParaRPr lang="en-IN" sz="1400" dirty="0">
            <a:latin typeface="Times New Roman" panose="02020603050405020304" pitchFamily="18" charset="0"/>
            <a:cs typeface="Times New Roman" panose="02020603050405020304" pitchFamily="18" charset="0"/>
          </a:endParaRPr>
        </a:p>
      </dgm:t>
    </dgm:pt>
    <dgm:pt modelId="{517D234B-D5B2-4B26-92A9-A113DAC64F2A}" type="parTrans" cxnId="{76E364EF-98EC-4952-AD68-B4CD1FFD6C5A}">
      <dgm:prSet/>
      <dgm:spPr/>
      <dgm:t>
        <a:bodyPr/>
        <a:lstStyle/>
        <a:p>
          <a:endParaRPr lang="en-IN"/>
        </a:p>
      </dgm:t>
    </dgm:pt>
    <dgm:pt modelId="{F83A358D-32DE-4DF3-AF17-8962720C2ECE}" type="sibTrans" cxnId="{76E364EF-98EC-4952-AD68-B4CD1FFD6C5A}">
      <dgm:prSet/>
      <dgm:spPr/>
      <dgm:t>
        <a:bodyPr/>
        <a:lstStyle/>
        <a:p>
          <a:endParaRPr lang="en-IN"/>
        </a:p>
      </dgm:t>
    </dgm:pt>
    <dgm:pt modelId="{837C48A7-EDC5-46EE-B58A-44C5BCF737EF}">
      <dgm:prSet custT="1"/>
      <dgm:spPr/>
      <dgm:t>
        <a:bodyPr/>
        <a:lstStyle/>
        <a:p>
          <a:r>
            <a:rPr lang="en-US" sz="1400" b="1" dirty="0">
              <a:latin typeface="Times New Roman" panose="02020603050405020304" pitchFamily="18" charset="0"/>
              <a:cs typeface="Times New Roman" panose="02020603050405020304" pitchFamily="18" charset="0"/>
            </a:rPr>
            <a:t>Gender : male</a:t>
          </a:r>
          <a:endParaRPr lang="en-IN" sz="1400" dirty="0">
            <a:latin typeface="Times New Roman" panose="02020603050405020304" pitchFamily="18" charset="0"/>
            <a:cs typeface="Times New Roman" panose="02020603050405020304" pitchFamily="18" charset="0"/>
          </a:endParaRPr>
        </a:p>
      </dgm:t>
    </dgm:pt>
    <dgm:pt modelId="{BC9319CD-679A-495D-B1CC-F245C685A637}" type="parTrans" cxnId="{78AD57F0-9ADE-4257-9168-4E2C706DD868}">
      <dgm:prSet/>
      <dgm:spPr/>
      <dgm:t>
        <a:bodyPr/>
        <a:lstStyle/>
        <a:p>
          <a:endParaRPr lang="en-IN"/>
        </a:p>
      </dgm:t>
    </dgm:pt>
    <dgm:pt modelId="{667BD0D5-9457-49FD-8E84-1322FCB68CD9}" type="sibTrans" cxnId="{78AD57F0-9ADE-4257-9168-4E2C706DD868}">
      <dgm:prSet/>
      <dgm:spPr/>
      <dgm:t>
        <a:bodyPr/>
        <a:lstStyle/>
        <a:p>
          <a:endParaRPr lang="en-IN"/>
        </a:p>
      </dgm:t>
    </dgm:pt>
    <dgm:pt modelId="{E87BE61A-7F42-4ABF-A3AD-AE935AE51897}">
      <dgm:prSet custT="1"/>
      <dgm:spPr/>
      <dgm:t>
        <a:bodyPr/>
        <a:lstStyle/>
        <a:p>
          <a:r>
            <a:rPr lang="en-US" sz="1400" b="1" dirty="0">
              <a:latin typeface="Times New Roman" panose="02020603050405020304" pitchFamily="18" charset="0"/>
              <a:cs typeface="Times New Roman" panose="02020603050405020304" pitchFamily="18" charset="0"/>
            </a:rPr>
            <a:t>Registered Mail ID :vishalyadav95588@gmail.com</a:t>
          </a:r>
          <a:endParaRPr lang="en-IN" sz="1400" dirty="0">
            <a:latin typeface="Times New Roman" panose="02020603050405020304" pitchFamily="18" charset="0"/>
            <a:cs typeface="Times New Roman" panose="02020603050405020304" pitchFamily="18" charset="0"/>
          </a:endParaRPr>
        </a:p>
      </dgm:t>
    </dgm:pt>
    <dgm:pt modelId="{E2499C6F-5468-4E23-A31A-108999713F52}" type="parTrans" cxnId="{D0F7BDA1-84B4-415C-8A46-4DF6FB632296}">
      <dgm:prSet/>
      <dgm:spPr/>
      <dgm:t>
        <a:bodyPr/>
        <a:lstStyle/>
        <a:p>
          <a:endParaRPr lang="en-IN"/>
        </a:p>
      </dgm:t>
    </dgm:pt>
    <dgm:pt modelId="{171BE8F9-01DE-4A9A-8BD0-0562EBA9055C}" type="sibTrans" cxnId="{D0F7BDA1-84B4-415C-8A46-4DF6FB632296}">
      <dgm:prSet/>
      <dgm:spPr/>
      <dgm:t>
        <a:bodyPr/>
        <a:lstStyle/>
        <a:p>
          <a:endParaRPr lang="en-IN"/>
        </a:p>
      </dgm:t>
    </dgm:pt>
    <dgm:pt modelId="{AF188C4E-8A66-466D-9260-9D42CCA1758A}">
      <dgm:prSet custT="1"/>
      <dgm:spPr/>
      <dgm:t>
        <a:bodyPr/>
        <a:lstStyle/>
        <a:p>
          <a:r>
            <a:rPr lang="en-US" sz="1400" b="1" dirty="0">
              <a:latin typeface="Times New Roman" panose="02020603050405020304" pitchFamily="18" charset="0"/>
              <a:cs typeface="Times New Roman" panose="02020603050405020304" pitchFamily="18" charset="0"/>
            </a:rPr>
            <a:t>Contact No:9913447314</a:t>
          </a:r>
          <a:endParaRPr lang="en-IN" sz="1400" dirty="0">
            <a:latin typeface="Times New Roman" panose="02020603050405020304" pitchFamily="18" charset="0"/>
            <a:cs typeface="Times New Roman" panose="02020603050405020304" pitchFamily="18" charset="0"/>
          </a:endParaRPr>
        </a:p>
      </dgm:t>
    </dgm:pt>
    <dgm:pt modelId="{7B9A847B-0E88-4111-A28C-C0CA3C4BDF59}" type="parTrans" cxnId="{8467ACAE-E39F-4CBD-A496-15A9D6518B84}">
      <dgm:prSet/>
      <dgm:spPr/>
      <dgm:t>
        <a:bodyPr/>
        <a:lstStyle/>
        <a:p>
          <a:endParaRPr lang="en-IN"/>
        </a:p>
      </dgm:t>
    </dgm:pt>
    <dgm:pt modelId="{4EF143EE-2BB0-4B2F-B232-A68A47D39D75}" type="sibTrans" cxnId="{8467ACAE-E39F-4CBD-A496-15A9D6518B84}">
      <dgm:prSet/>
      <dgm:spPr/>
      <dgm:t>
        <a:bodyPr/>
        <a:lstStyle/>
        <a:p>
          <a:endParaRPr lang="en-IN"/>
        </a:p>
      </dgm:t>
    </dgm:pt>
    <dgm:pt modelId="{A87D35D4-0904-4812-8A92-5827D1805BCC}" type="pres">
      <dgm:prSet presAssocID="{F96A752C-8BA7-4926-B19B-862A335AED29}" presName="linear" presStyleCnt="0">
        <dgm:presLayoutVars>
          <dgm:animLvl val="lvl"/>
          <dgm:resizeHandles val="exact"/>
        </dgm:presLayoutVars>
      </dgm:prSet>
      <dgm:spPr/>
    </dgm:pt>
    <dgm:pt modelId="{ECC248D9-3392-411F-B2B3-5AC6B9E026C7}" type="pres">
      <dgm:prSet presAssocID="{3546C5B7-0DFC-4088-86C3-5B2724DB03C6}" presName="parentText" presStyleLbl="node1" presStyleIdx="0" presStyleCnt="8" custScaleY="98957" custLinFactNeighborX="463" custLinFactNeighborY="82314">
        <dgm:presLayoutVars>
          <dgm:chMax val="0"/>
          <dgm:bulletEnabled val="1"/>
        </dgm:presLayoutVars>
      </dgm:prSet>
      <dgm:spPr/>
    </dgm:pt>
    <dgm:pt modelId="{D727ED27-1F05-48A8-BEEF-73BC74CD01B9}" type="pres">
      <dgm:prSet presAssocID="{E6C8B30F-6E5B-410A-898A-F76BBD2C2FAD}" presName="spacer" presStyleCnt="0"/>
      <dgm:spPr/>
    </dgm:pt>
    <dgm:pt modelId="{B8F4C837-C9A0-44A1-9187-FB4CB6DC0438}" type="pres">
      <dgm:prSet presAssocID="{BB6DE09D-CAA2-4306-9849-9B3D384B3375}" presName="parentText" presStyleLbl="node1" presStyleIdx="1" presStyleCnt="8">
        <dgm:presLayoutVars>
          <dgm:chMax val="0"/>
          <dgm:bulletEnabled val="1"/>
        </dgm:presLayoutVars>
      </dgm:prSet>
      <dgm:spPr/>
    </dgm:pt>
    <dgm:pt modelId="{FDBB4876-8268-4467-8C0A-A98CBC0C3C7F}" type="pres">
      <dgm:prSet presAssocID="{42188A24-116D-48AD-8200-2778D2068ACE}" presName="spacer" presStyleCnt="0"/>
      <dgm:spPr/>
    </dgm:pt>
    <dgm:pt modelId="{D5253C65-BEEB-460A-BF07-92227E169D8C}" type="pres">
      <dgm:prSet presAssocID="{E4DBADE1-E68D-4898-85FD-71D4D9DE3429}" presName="parentText" presStyleLbl="node1" presStyleIdx="2" presStyleCnt="8">
        <dgm:presLayoutVars>
          <dgm:chMax val="0"/>
          <dgm:bulletEnabled val="1"/>
        </dgm:presLayoutVars>
      </dgm:prSet>
      <dgm:spPr/>
    </dgm:pt>
    <dgm:pt modelId="{639D4BBE-6665-4204-B81E-2F68BA62D2DA}" type="pres">
      <dgm:prSet presAssocID="{040B4A52-038B-47F8-A338-2C8F7BD7FF28}" presName="spacer" presStyleCnt="0"/>
      <dgm:spPr/>
    </dgm:pt>
    <dgm:pt modelId="{5F6B8796-8DDF-4F8F-8F40-72B091D67EC5}" type="pres">
      <dgm:prSet presAssocID="{07F68278-6FEC-4EFF-AE21-1F84832DAAB8}" presName="parentText" presStyleLbl="node1" presStyleIdx="3" presStyleCnt="8">
        <dgm:presLayoutVars>
          <dgm:chMax val="0"/>
          <dgm:bulletEnabled val="1"/>
        </dgm:presLayoutVars>
      </dgm:prSet>
      <dgm:spPr/>
    </dgm:pt>
    <dgm:pt modelId="{801E4884-8439-4CC0-A8B0-87A0BE100CD6}" type="pres">
      <dgm:prSet presAssocID="{8F118D25-B1AE-4E1C-AC10-1EFF1CE7909B}" presName="spacer" presStyleCnt="0"/>
      <dgm:spPr/>
    </dgm:pt>
    <dgm:pt modelId="{A9E2CED8-BF4A-437B-AF83-5D9DDC4B4025}" type="pres">
      <dgm:prSet presAssocID="{07F2D415-522A-41DC-A8E9-BCFBCA195962}" presName="parentText" presStyleLbl="node1" presStyleIdx="4" presStyleCnt="8">
        <dgm:presLayoutVars>
          <dgm:chMax val="0"/>
          <dgm:bulletEnabled val="1"/>
        </dgm:presLayoutVars>
      </dgm:prSet>
      <dgm:spPr/>
    </dgm:pt>
    <dgm:pt modelId="{9AE9932F-C097-43F5-A0B8-BB63DF3DE280}" type="pres">
      <dgm:prSet presAssocID="{F83A358D-32DE-4DF3-AF17-8962720C2ECE}" presName="spacer" presStyleCnt="0"/>
      <dgm:spPr/>
    </dgm:pt>
    <dgm:pt modelId="{D82B50C8-669E-49AF-8188-93FEB0C8EE72}" type="pres">
      <dgm:prSet presAssocID="{837C48A7-EDC5-46EE-B58A-44C5BCF737EF}" presName="parentText" presStyleLbl="node1" presStyleIdx="5" presStyleCnt="8">
        <dgm:presLayoutVars>
          <dgm:chMax val="0"/>
          <dgm:bulletEnabled val="1"/>
        </dgm:presLayoutVars>
      </dgm:prSet>
      <dgm:spPr/>
    </dgm:pt>
    <dgm:pt modelId="{F809C204-C466-4C70-B676-D7131080BB9F}" type="pres">
      <dgm:prSet presAssocID="{667BD0D5-9457-49FD-8E84-1322FCB68CD9}" presName="spacer" presStyleCnt="0"/>
      <dgm:spPr/>
    </dgm:pt>
    <dgm:pt modelId="{42CD3543-1EFC-4D0F-973C-CFB9EBA9C36B}" type="pres">
      <dgm:prSet presAssocID="{E87BE61A-7F42-4ABF-A3AD-AE935AE51897}" presName="parentText" presStyleLbl="node1" presStyleIdx="6" presStyleCnt="8">
        <dgm:presLayoutVars>
          <dgm:chMax val="0"/>
          <dgm:bulletEnabled val="1"/>
        </dgm:presLayoutVars>
      </dgm:prSet>
      <dgm:spPr/>
    </dgm:pt>
    <dgm:pt modelId="{5464ACD6-8F7B-41AC-A565-052744ED08D5}" type="pres">
      <dgm:prSet presAssocID="{171BE8F9-01DE-4A9A-8BD0-0562EBA9055C}" presName="spacer" presStyleCnt="0"/>
      <dgm:spPr/>
    </dgm:pt>
    <dgm:pt modelId="{280C7D20-BD7B-4818-86B4-4D2C02A2C441}" type="pres">
      <dgm:prSet presAssocID="{AF188C4E-8A66-466D-9260-9D42CCA1758A}" presName="parentText" presStyleLbl="node1" presStyleIdx="7" presStyleCnt="8">
        <dgm:presLayoutVars>
          <dgm:chMax val="0"/>
          <dgm:bulletEnabled val="1"/>
        </dgm:presLayoutVars>
      </dgm:prSet>
      <dgm:spPr/>
    </dgm:pt>
  </dgm:ptLst>
  <dgm:cxnLst>
    <dgm:cxn modelId="{DE260F78-F0FE-4689-8DB3-9DF23E140BBA}" type="presOf" srcId="{BB6DE09D-CAA2-4306-9849-9B3D384B3375}" destId="{B8F4C837-C9A0-44A1-9187-FB4CB6DC0438}" srcOrd="0" destOrd="0" presId="urn:microsoft.com/office/officeart/2005/8/layout/vList2"/>
    <dgm:cxn modelId="{81E0F87D-52A8-4DF2-B292-F75B42042216}" type="presOf" srcId="{07F68278-6FEC-4EFF-AE21-1F84832DAAB8}" destId="{5F6B8796-8DDF-4F8F-8F40-72B091D67EC5}" srcOrd="0" destOrd="0" presId="urn:microsoft.com/office/officeart/2005/8/layout/vList2"/>
    <dgm:cxn modelId="{0768A27E-7C78-4CA6-B5EA-20A66E5A09D6}" srcId="{F96A752C-8BA7-4926-B19B-862A335AED29}" destId="{E4DBADE1-E68D-4898-85FD-71D4D9DE3429}" srcOrd="2" destOrd="0" parTransId="{C8079F5F-6E25-4EAF-B3EF-165491634D97}" sibTransId="{040B4A52-038B-47F8-A338-2C8F7BD7FF28}"/>
    <dgm:cxn modelId="{8FA7C782-A92E-471A-A0C6-3BA0DBBE1752}" type="presOf" srcId="{AF188C4E-8A66-466D-9260-9D42CCA1758A}" destId="{280C7D20-BD7B-4818-86B4-4D2C02A2C441}" srcOrd="0" destOrd="0" presId="urn:microsoft.com/office/officeart/2005/8/layout/vList2"/>
    <dgm:cxn modelId="{CBAF7992-3F5E-4029-A229-AA8969D0E256}" srcId="{F96A752C-8BA7-4926-B19B-862A335AED29}" destId="{BB6DE09D-CAA2-4306-9849-9B3D384B3375}" srcOrd="1" destOrd="0" parTransId="{EDA24881-01B5-4164-822E-7966F97F74AB}" sibTransId="{42188A24-116D-48AD-8200-2778D2068ACE}"/>
    <dgm:cxn modelId="{5D94D093-8F64-4B8A-8943-351256462FE0}" type="presOf" srcId="{07F2D415-522A-41DC-A8E9-BCFBCA195962}" destId="{A9E2CED8-BF4A-437B-AF83-5D9DDC4B4025}" srcOrd="0" destOrd="0" presId="urn:microsoft.com/office/officeart/2005/8/layout/vList2"/>
    <dgm:cxn modelId="{D0F7BDA1-84B4-415C-8A46-4DF6FB632296}" srcId="{F96A752C-8BA7-4926-B19B-862A335AED29}" destId="{E87BE61A-7F42-4ABF-A3AD-AE935AE51897}" srcOrd="6" destOrd="0" parTransId="{E2499C6F-5468-4E23-A31A-108999713F52}" sibTransId="{171BE8F9-01DE-4A9A-8BD0-0562EBA9055C}"/>
    <dgm:cxn modelId="{3D517EA7-F592-464F-BC9B-EE3DC56FF6D0}" srcId="{F96A752C-8BA7-4926-B19B-862A335AED29}" destId="{07F68278-6FEC-4EFF-AE21-1F84832DAAB8}" srcOrd="3" destOrd="0" parTransId="{AB83E124-F296-4542-BBA6-280503A89D17}" sibTransId="{8F118D25-B1AE-4E1C-AC10-1EFF1CE7909B}"/>
    <dgm:cxn modelId="{696C83A7-77F8-4470-9ECB-B447AC5AEAE8}" type="presOf" srcId="{837C48A7-EDC5-46EE-B58A-44C5BCF737EF}" destId="{D82B50C8-669E-49AF-8188-93FEB0C8EE72}" srcOrd="0" destOrd="0" presId="urn:microsoft.com/office/officeart/2005/8/layout/vList2"/>
    <dgm:cxn modelId="{8467ACAE-E39F-4CBD-A496-15A9D6518B84}" srcId="{F96A752C-8BA7-4926-B19B-862A335AED29}" destId="{AF188C4E-8A66-466D-9260-9D42CCA1758A}" srcOrd="7" destOrd="0" parTransId="{7B9A847B-0E88-4111-A28C-C0CA3C4BDF59}" sibTransId="{4EF143EE-2BB0-4B2F-B232-A68A47D39D75}"/>
    <dgm:cxn modelId="{1FAA6ABA-472C-4B15-9F0E-0E62247BD8D3}" type="presOf" srcId="{E87BE61A-7F42-4ABF-A3AD-AE935AE51897}" destId="{42CD3543-1EFC-4D0F-973C-CFB9EBA9C36B}" srcOrd="0" destOrd="0" presId="urn:microsoft.com/office/officeart/2005/8/layout/vList2"/>
    <dgm:cxn modelId="{C8B636D1-4CF8-4F0C-81CA-8F33778B3095}" srcId="{F96A752C-8BA7-4926-B19B-862A335AED29}" destId="{3546C5B7-0DFC-4088-86C3-5B2724DB03C6}" srcOrd="0" destOrd="0" parTransId="{6EBAA2BB-82B6-4484-B1BD-D14A798A1ADE}" sibTransId="{E6C8B30F-6E5B-410A-898A-F76BBD2C2FAD}"/>
    <dgm:cxn modelId="{824BF8EB-6EF9-4CB0-909A-8027B59C1B85}" type="presOf" srcId="{E4DBADE1-E68D-4898-85FD-71D4D9DE3429}" destId="{D5253C65-BEEB-460A-BF07-92227E169D8C}" srcOrd="0" destOrd="0" presId="urn:microsoft.com/office/officeart/2005/8/layout/vList2"/>
    <dgm:cxn modelId="{76E364EF-98EC-4952-AD68-B4CD1FFD6C5A}" srcId="{F96A752C-8BA7-4926-B19B-862A335AED29}" destId="{07F2D415-522A-41DC-A8E9-BCFBCA195962}" srcOrd="4" destOrd="0" parTransId="{517D234B-D5B2-4B26-92A9-A113DAC64F2A}" sibTransId="{F83A358D-32DE-4DF3-AF17-8962720C2ECE}"/>
    <dgm:cxn modelId="{78AD57F0-9ADE-4257-9168-4E2C706DD868}" srcId="{F96A752C-8BA7-4926-B19B-862A335AED29}" destId="{837C48A7-EDC5-46EE-B58A-44C5BCF737EF}" srcOrd="5" destOrd="0" parTransId="{BC9319CD-679A-495D-B1CC-F245C685A637}" sibTransId="{667BD0D5-9457-49FD-8E84-1322FCB68CD9}"/>
    <dgm:cxn modelId="{E5E33BF8-538B-475E-B79E-34E0F6DF01B9}" type="presOf" srcId="{F96A752C-8BA7-4926-B19B-862A335AED29}" destId="{A87D35D4-0904-4812-8A92-5827D1805BCC}" srcOrd="0" destOrd="0" presId="urn:microsoft.com/office/officeart/2005/8/layout/vList2"/>
    <dgm:cxn modelId="{812C03FA-0B46-409B-8247-547E5A50D255}" type="presOf" srcId="{3546C5B7-0DFC-4088-86C3-5B2724DB03C6}" destId="{ECC248D9-3392-411F-B2B3-5AC6B9E026C7}" srcOrd="0" destOrd="0" presId="urn:microsoft.com/office/officeart/2005/8/layout/vList2"/>
    <dgm:cxn modelId="{3EA2DA98-4CD1-40A8-AB21-7FB92CE380FF}" type="presParOf" srcId="{A87D35D4-0904-4812-8A92-5827D1805BCC}" destId="{ECC248D9-3392-411F-B2B3-5AC6B9E026C7}" srcOrd="0" destOrd="0" presId="urn:microsoft.com/office/officeart/2005/8/layout/vList2"/>
    <dgm:cxn modelId="{1CC64AAE-B901-45CC-A7C6-273DECEE2FA6}" type="presParOf" srcId="{A87D35D4-0904-4812-8A92-5827D1805BCC}" destId="{D727ED27-1F05-48A8-BEEF-73BC74CD01B9}" srcOrd="1" destOrd="0" presId="urn:microsoft.com/office/officeart/2005/8/layout/vList2"/>
    <dgm:cxn modelId="{5B9E8E80-FF28-47F2-93C1-149C257031D5}" type="presParOf" srcId="{A87D35D4-0904-4812-8A92-5827D1805BCC}" destId="{B8F4C837-C9A0-44A1-9187-FB4CB6DC0438}" srcOrd="2" destOrd="0" presId="urn:microsoft.com/office/officeart/2005/8/layout/vList2"/>
    <dgm:cxn modelId="{1F41C5BD-DAC6-4DC4-8D18-4D84C9164495}" type="presParOf" srcId="{A87D35D4-0904-4812-8A92-5827D1805BCC}" destId="{FDBB4876-8268-4467-8C0A-A98CBC0C3C7F}" srcOrd="3" destOrd="0" presId="urn:microsoft.com/office/officeart/2005/8/layout/vList2"/>
    <dgm:cxn modelId="{EF232133-44F4-4305-BB37-A4CDC8E76CC8}" type="presParOf" srcId="{A87D35D4-0904-4812-8A92-5827D1805BCC}" destId="{D5253C65-BEEB-460A-BF07-92227E169D8C}" srcOrd="4" destOrd="0" presId="urn:microsoft.com/office/officeart/2005/8/layout/vList2"/>
    <dgm:cxn modelId="{137B7F27-E775-4AB0-922D-3ADFA32741A6}" type="presParOf" srcId="{A87D35D4-0904-4812-8A92-5827D1805BCC}" destId="{639D4BBE-6665-4204-B81E-2F68BA62D2DA}" srcOrd="5" destOrd="0" presId="urn:microsoft.com/office/officeart/2005/8/layout/vList2"/>
    <dgm:cxn modelId="{EDC1EEFC-B41B-4F29-8AFC-483D2B7EF0D8}" type="presParOf" srcId="{A87D35D4-0904-4812-8A92-5827D1805BCC}" destId="{5F6B8796-8DDF-4F8F-8F40-72B091D67EC5}" srcOrd="6" destOrd="0" presId="urn:microsoft.com/office/officeart/2005/8/layout/vList2"/>
    <dgm:cxn modelId="{5648606A-2485-46C1-8B66-CB4133C22A38}" type="presParOf" srcId="{A87D35D4-0904-4812-8A92-5827D1805BCC}" destId="{801E4884-8439-4CC0-A8B0-87A0BE100CD6}" srcOrd="7" destOrd="0" presId="urn:microsoft.com/office/officeart/2005/8/layout/vList2"/>
    <dgm:cxn modelId="{41BD3F49-3614-4A21-AD36-82601359C4EE}" type="presParOf" srcId="{A87D35D4-0904-4812-8A92-5827D1805BCC}" destId="{A9E2CED8-BF4A-437B-AF83-5D9DDC4B4025}" srcOrd="8" destOrd="0" presId="urn:microsoft.com/office/officeart/2005/8/layout/vList2"/>
    <dgm:cxn modelId="{C3917C9D-EF1B-468F-A7B4-8F223F05584D}" type="presParOf" srcId="{A87D35D4-0904-4812-8A92-5827D1805BCC}" destId="{9AE9932F-C097-43F5-A0B8-BB63DF3DE280}" srcOrd="9" destOrd="0" presId="urn:microsoft.com/office/officeart/2005/8/layout/vList2"/>
    <dgm:cxn modelId="{7ACBA668-001C-41EB-A0AC-3DB72923811B}" type="presParOf" srcId="{A87D35D4-0904-4812-8A92-5827D1805BCC}" destId="{D82B50C8-669E-49AF-8188-93FEB0C8EE72}" srcOrd="10" destOrd="0" presId="urn:microsoft.com/office/officeart/2005/8/layout/vList2"/>
    <dgm:cxn modelId="{BCD55B77-3700-45BF-B8DA-3D11AA5AD9BD}" type="presParOf" srcId="{A87D35D4-0904-4812-8A92-5827D1805BCC}" destId="{F809C204-C466-4C70-B676-D7131080BB9F}" srcOrd="11" destOrd="0" presId="urn:microsoft.com/office/officeart/2005/8/layout/vList2"/>
    <dgm:cxn modelId="{D415C7FB-77E5-4F41-A35A-CB0FE1344F45}" type="presParOf" srcId="{A87D35D4-0904-4812-8A92-5827D1805BCC}" destId="{42CD3543-1EFC-4D0F-973C-CFB9EBA9C36B}" srcOrd="12" destOrd="0" presId="urn:microsoft.com/office/officeart/2005/8/layout/vList2"/>
    <dgm:cxn modelId="{D75FAA8F-A4BC-439F-B440-BC1101B98DEC}" type="presParOf" srcId="{A87D35D4-0904-4812-8A92-5827D1805BCC}" destId="{5464ACD6-8F7B-41AC-A565-052744ED08D5}" srcOrd="13" destOrd="0" presId="urn:microsoft.com/office/officeart/2005/8/layout/vList2"/>
    <dgm:cxn modelId="{83E24DD1-10FA-4625-BCD0-55AB96FA2DBD}" type="presParOf" srcId="{A87D35D4-0904-4812-8A92-5827D1805BCC}" destId="{280C7D20-BD7B-4818-86B4-4D2C02A2C441}" srcOrd="1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C248D9-3392-411F-B2B3-5AC6B9E026C7}">
      <dsp:nvSpPr>
        <dsp:cNvPr id="0" name=""/>
        <dsp:cNvSpPr/>
      </dsp:nvSpPr>
      <dsp:spPr>
        <a:xfrm>
          <a:off x="0" y="9683"/>
          <a:ext cx="9144000" cy="405486"/>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a:latin typeface="Times New Roman" panose="02020603050405020304" pitchFamily="18" charset="0"/>
              <a:cs typeface="Times New Roman" panose="02020603050405020304" pitchFamily="18" charset="0"/>
            </a:rPr>
            <a:t>Student </a:t>
          </a:r>
          <a:r>
            <a:rPr lang="en-US" sz="1400" b="1" kern="1200" dirty="0">
              <a:latin typeface="Times New Roman" panose="02020603050405020304" pitchFamily="18" charset="0"/>
              <a:cs typeface="Times New Roman" panose="02020603050405020304" pitchFamily="18" charset="0"/>
            </a:rPr>
            <a:t>Name</a:t>
          </a:r>
          <a:r>
            <a:rPr lang="en-US" sz="1600" b="1" kern="1200" dirty="0">
              <a:latin typeface="Times New Roman" panose="02020603050405020304" pitchFamily="18" charset="0"/>
              <a:cs typeface="Times New Roman" panose="02020603050405020304" pitchFamily="18" charset="0"/>
            </a:rPr>
            <a:t> : Vishal </a:t>
          </a:r>
          <a:r>
            <a:rPr lang="en-US" sz="1600" b="1" kern="1200" dirty="0" err="1">
              <a:latin typeface="Times New Roman" panose="02020603050405020304" pitchFamily="18" charset="0"/>
              <a:cs typeface="Times New Roman" panose="02020603050405020304" pitchFamily="18" charset="0"/>
            </a:rPr>
            <a:t>jayprakash</a:t>
          </a:r>
          <a:r>
            <a:rPr lang="en-US" sz="1600" b="1" kern="1200" dirty="0">
              <a:latin typeface="Times New Roman" panose="02020603050405020304" pitchFamily="18" charset="0"/>
              <a:cs typeface="Times New Roman" panose="02020603050405020304" pitchFamily="18" charset="0"/>
            </a:rPr>
            <a:t> </a:t>
          </a:r>
          <a:r>
            <a:rPr lang="en-US" sz="1600" b="1" kern="1200" dirty="0" err="1">
              <a:latin typeface="Times New Roman" panose="02020603050405020304" pitchFamily="18" charset="0"/>
              <a:cs typeface="Times New Roman" panose="02020603050405020304" pitchFamily="18" charset="0"/>
            </a:rPr>
            <a:t>yadav</a:t>
          </a:r>
          <a:endParaRPr lang="en-IN" sz="1600" kern="1200" dirty="0">
            <a:latin typeface="Times New Roman" panose="02020603050405020304" pitchFamily="18" charset="0"/>
            <a:cs typeface="Times New Roman" panose="02020603050405020304" pitchFamily="18" charset="0"/>
          </a:endParaRPr>
        </a:p>
      </dsp:txBody>
      <dsp:txXfrm>
        <a:off x="19794" y="29477"/>
        <a:ext cx="9104412" cy="365898"/>
      </dsp:txXfrm>
    </dsp:sp>
    <dsp:sp modelId="{B8F4C837-C9A0-44A1-9187-FB4CB6DC0438}">
      <dsp:nvSpPr>
        <dsp:cNvPr id="0" name=""/>
        <dsp:cNvSpPr/>
      </dsp:nvSpPr>
      <dsp:spPr>
        <a:xfrm>
          <a:off x="0" y="417139"/>
          <a:ext cx="9144000" cy="40975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dirty="0">
              <a:latin typeface="Times New Roman" panose="02020603050405020304" pitchFamily="18" charset="0"/>
              <a:cs typeface="Times New Roman" panose="02020603050405020304" pitchFamily="18" charset="0"/>
            </a:rPr>
            <a:t>Enrollment</a:t>
          </a:r>
          <a:r>
            <a:rPr lang="en-US" sz="1600" b="1" kern="1200" dirty="0">
              <a:latin typeface="Times New Roman" panose="02020603050405020304" pitchFamily="18" charset="0"/>
              <a:cs typeface="Times New Roman" panose="02020603050405020304" pitchFamily="18" charset="0"/>
            </a:rPr>
            <a:t> no: 249810307045</a:t>
          </a:r>
          <a:endParaRPr lang="en-IN" sz="1600" kern="1200" dirty="0">
            <a:latin typeface="Times New Roman" panose="02020603050405020304" pitchFamily="18" charset="0"/>
            <a:cs typeface="Times New Roman" panose="02020603050405020304" pitchFamily="18" charset="0"/>
          </a:endParaRPr>
        </a:p>
      </dsp:txBody>
      <dsp:txXfrm>
        <a:off x="20003" y="437142"/>
        <a:ext cx="9103994" cy="369753"/>
      </dsp:txXfrm>
    </dsp:sp>
    <dsp:sp modelId="{D5253C65-BEEB-460A-BF07-92227E169D8C}">
      <dsp:nvSpPr>
        <dsp:cNvPr id="0" name=""/>
        <dsp:cNvSpPr/>
      </dsp:nvSpPr>
      <dsp:spPr>
        <a:xfrm>
          <a:off x="0" y="838036"/>
          <a:ext cx="9144000" cy="40975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dirty="0">
              <a:latin typeface="Times New Roman" panose="02020603050405020304" pitchFamily="18" charset="0"/>
              <a:cs typeface="Times New Roman" panose="02020603050405020304" pitchFamily="18" charset="0"/>
            </a:rPr>
            <a:t>College Name : Shree </a:t>
          </a:r>
          <a:r>
            <a:rPr lang="en-US" sz="1400" b="1" kern="1200" dirty="0" err="1">
              <a:latin typeface="Times New Roman" panose="02020603050405020304" pitchFamily="18" charset="0"/>
              <a:cs typeface="Times New Roman" panose="02020603050405020304" pitchFamily="18" charset="0"/>
            </a:rPr>
            <a:t>dhanvantari</a:t>
          </a:r>
          <a:r>
            <a:rPr lang="en-US" sz="1400" b="1" kern="1200" dirty="0">
              <a:latin typeface="Times New Roman" panose="02020603050405020304" pitchFamily="18" charset="0"/>
              <a:cs typeface="Times New Roman" panose="02020603050405020304" pitchFamily="18" charset="0"/>
            </a:rPr>
            <a:t> college of engineering and technology</a:t>
          </a:r>
          <a:br>
            <a:rPr lang="en-US" sz="1400" b="1" kern="1200" dirty="0">
              <a:latin typeface="Times New Roman" panose="02020603050405020304" pitchFamily="18" charset="0"/>
              <a:cs typeface="Times New Roman" panose="02020603050405020304" pitchFamily="18" charset="0"/>
            </a:rPr>
          </a:br>
          <a:endParaRPr lang="en-IN" sz="1400" kern="1200" dirty="0">
            <a:latin typeface="Times New Roman" panose="02020603050405020304" pitchFamily="18" charset="0"/>
            <a:cs typeface="Times New Roman" panose="02020603050405020304" pitchFamily="18" charset="0"/>
          </a:endParaRPr>
        </a:p>
      </dsp:txBody>
      <dsp:txXfrm>
        <a:off x="20003" y="858039"/>
        <a:ext cx="9103994" cy="369753"/>
      </dsp:txXfrm>
    </dsp:sp>
    <dsp:sp modelId="{5F6B8796-8DDF-4F8F-8F40-72B091D67EC5}">
      <dsp:nvSpPr>
        <dsp:cNvPr id="0" name=""/>
        <dsp:cNvSpPr/>
      </dsp:nvSpPr>
      <dsp:spPr>
        <a:xfrm>
          <a:off x="0" y="1258934"/>
          <a:ext cx="9144000" cy="40975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dirty="0">
              <a:latin typeface="Times New Roman" panose="02020603050405020304" pitchFamily="18" charset="0"/>
              <a:cs typeface="Times New Roman" panose="02020603050405020304" pitchFamily="18" charset="0"/>
            </a:rPr>
            <a:t>Branch and Year : computer science(2024-26)</a:t>
          </a:r>
          <a:endParaRPr lang="en-IN" sz="1400" kern="1200" dirty="0">
            <a:latin typeface="Times New Roman" panose="02020603050405020304" pitchFamily="18" charset="0"/>
            <a:cs typeface="Times New Roman" panose="02020603050405020304" pitchFamily="18" charset="0"/>
          </a:endParaRPr>
        </a:p>
      </dsp:txBody>
      <dsp:txXfrm>
        <a:off x="20003" y="1278937"/>
        <a:ext cx="9103994" cy="369753"/>
      </dsp:txXfrm>
    </dsp:sp>
    <dsp:sp modelId="{A9E2CED8-BF4A-437B-AF83-5D9DDC4B4025}">
      <dsp:nvSpPr>
        <dsp:cNvPr id="0" name=""/>
        <dsp:cNvSpPr/>
      </dsp:nvSpPr>
      <dsp:spPr>
        <a:xfrm>
          <a:off x="0" y="1679831"/>
          <a:ext cx="9144000" cy="40975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dirty="0">
              <a:latin typeface="Times New Roman" panose="02020603050405020304" pitchFamily="18" charset="0"/>
              <a:cs typeface="Times New Roman" panose="02020603050405020304" pitchFamily="18" charset="0"/>
            </a:rPr>
            <a:t>Branch code:07</a:t>
          </a:r>
          <a:endParaRPr lang="en-IN" sz="1400" kern="1200" dirty="0">
            <a:latin typeface="Times New Roman" panose="02020603050405020304" pitchFamily="18" charset="0"/>
            <a:cs typeface="Times New Roman" panose="02020603050405020304" pitchFamily="18" charset="0"/>
          </a:endParaRPr>
        </a:p>
      </dsp:txBody>
      <dsp:txXfrm>
        <a:off x="20003" y="1699834"/>
        <a:ext cx="9103994" cy="369753"/>
      </dsp:txXfrm>
    </dsp:sp>
    <dsp:sp modelId="{D82B50C8-669E-49AF-8188-93FEB0C8EE72}">
      <dsp:nvSpPr>
        <dsp:cNvPr id="0" name=""/>
        <dsp:cNvSpPr/>
      </dsp:nvSpPr>
      <dsp:spPr>
        <a:xfrm>
          <a:off x="0" y="2100729"/>
          <a:ext cx="9144000" cy="40975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dirty="0">
              <a:latin typeface="Times New Roman" panose="02020603050405020304" pitchFamily="18" charset="0"/>
              <a:cs typeface="Times New Roman" panose="02020603050405020304" pitchFamily="18" charset="0"/>
            </a:rPr>
            <a:t>Gender : male</a:t>
          </a:r>
          <a:endParaRPr lang="en-IN" sz="1400" kern="1200" dirty="0">
            <a:latin typeface="Times New Roman" panose="02020603050405020304" pitchFamily="18" charset="0"/>
            <a:cs typeface="Times New Roman" panose="02020603050405020304" pitchFamily="18" charset="0"/>
          </a:endParaRPr>
        </a:p>
      </dsp:txBody>
      <dsp:txXfrm>
        <a:off x="20003" y="2120732"/>
        <a:ext cx="9103994" cy="369753"/>
      </dsp:txXfrm>
    </dsp:sp>
    <dsp:sp modelId="{42CD3543-1EFC-4D0F-973C-CFB9EBA9C36B}">
      <dsp:nvSpPr>
        <dsp:cNvPr id="0" name=""/>
        <dsp:cNvSpPr/>
      </dsp:nvSpPr>
      <dsp:spPr>
        <a:xfrm>
          <a:off x="0" y="2521626"/>
          <a:ext cx="9144000" cy="40975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dirty="0">
              <a:latin typeface="Times New Roman" panose="02020603050405020304" pitchFamily="18" charset="0"/>
              <a:cs typeface="Times New Roman" panose="02020603050405020304" pitchFamily="18" charset="0"/>
            </a:rPr>
            <a:t>Registered Mail ID :vishalyadav95588@gmail.com</a:t>
          </a:r>
          <a:endParaRPr lang="en-IN" sz="1400" kern="1200" dirty="0">
            <a:latin typeface="Times New Roman" panose="02020603050405020304" pitchFamily="18" charset="0"/>
            <a:cs typeface="Times New Roman" panose="02020603050405020304" pitchFamily="18" charset="0"/>
          </a:endParaRPr>
        </a:p>
      </dsp:txBody>
      <dsp:txXfrm>
        <a:off x="20003" y="2541629"/>
        <a:ext cx="9103994" cy="369753"/>
      </dsp:txXfrm>
    </dsp:sp>
    <dsp:sp modelId="{280C7D20-BD7B-4818-86B4-4D2C02A2C441}">
      <dsp:nvSpPr>
        <dsp:cNvPr id="0" name=""/>
        <dsp:cNvSpPr/>
      </dsp:nvSpPr>
      <dsp:spPr>
        <a:xfrm>
          <a:off x="0" y="2942524"/>
          <a:ext cx="9144000" cy="40975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dirty="0">
              <a:latin typeface="Times New Roman" panose="02020603050405020304" pitchFamily="18" charset="0"/>
              <a:cs typeface="Times New Roman" panose="02020603050405020304" pitchFamily="18" charset="0"/>
            </a:rPr>
            <a:t>Contact No:9913447314</a:t>
          </a:r>
          <a:endParaRPr lang="en-IN" sz="1400" kern="1200" dirty="0">
            <a:latin typeface="Times New Roman" panose="02020603050405020304" pitchFamily="18" charset="0"/>
            <a:cs typeface="Times New Roman" panose="02020603050405020304" pitchFamily="18" charset="0"/>
          </a:endParaRPr>
        </a:p>
      </dsp:txBody>
      <dsp:txXfrm>
        <a:off x="20003" y="2962527"/>
        <a:ext cx="9103994" cy="369753"/>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FCD8A1E-8AE6-45FE-B94C-7A370B9B88D9}" type="datetimeFigureOut">
              <a:rPr lang="en-IN" smtClean="0"/>
              <a:t>26-06-2026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73957C-7CA4-4858-939A-7F20934C01C5}" type="slidenum">
              <a:rPr lang="en-IN" smtClean="0"/>
              <a:t>‹#›</a:t>
            </a:fld>
            <a:endParaRPr lang="en-IN"/>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39884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CD8A1E-8AE6-45FE-B94C-7A370B9B88D9}" type="datetimeFigureOut">
              <a:rPr lang="en-IN" smtClean="0"/>
              <a:t>26-06-2026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73957C-7CA4-4858-939A-7F20934C01C5}" type="slidenum">
              <a:rPr lang="en-IN" smtClean="0"/>
              <a:t>‹#›</a:t>
            </a:fld>
            <a:endParaRPr lang="en-IN"/>
          </a:p>
        </p:txBody>
      </p:sp>
    </p:spTree>
    <p:extLst>
      <p:ext uri="{BB962C8B-B14F-4D97-AF65-F5344CB8AC3E}">
        <p14:creationId xmlns:p14="http://schemas.microsoft.com/office/powerpoint/2010/main" val="24793017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CD8A1E-8AE6-45FE-B94C-7A370B9B88D9}" type="datetimeFigureOut">
              <a:rPr lang="en-IN" smtClean="0"/>
              <a:t>26-06-2026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73957C-7CA4-4858-939A-7F20934C01C5}" type="slidenum">
              <a:rPr lang="en-IN" smtClean="0"/>
              <a:t>‹#›</a:t>
            </a:fld>
            <a:endParaRPr lang="en-IN"/>
          </a:p>
        </p:txBody>
      </p:sp>
    </p:spTree>
    <p:extLst>
      <p:ext uri="{BB962C8B-B14F-4D97-AF65-F5344CB8AC3E}">
        <p14:creationId xmlns:p14="http://schemas.microsoft.com/office/powerpoint/2010/main" val="21945758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FCD8A1E-8AE6-45FE-B94C-7A370B9B88D9}" type="datetimeFigureOut">
              <a:rPr lang="en-IN" smtClean="0"/>
              <a:t>26-06-2026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73957C-7CA4-4858-939A-7F20934C01C5}" type="slidenum">
              <a:rPr lang="en-IN" smtClean="0"/>
              <a:t>‹#›</a:t>
            </a:fld>
            <a:endParaRPr lang="en-IN"/>
          </a:p>
        </p:txBody>
      </p:sp>
    </p:spTree>
    <p:extLst>
      <p:ext uri="{BB962C8B-B14F-4D97-AF65-F5344CB8AC3E}">
        <p14:creationId xmlns:p14="http://schemas.microsoft.com/office/powerpoint/2010/main" val="1591593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FCD8A1E-8AE6-45FE-B94C-7A370B9B88D9}" type="datetimeFigureOut">
              <a:rPr lang="en-IN" smtClean="0"/>
              <a:t>26-06-2026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C73957C-7CA4-4858-939A-7F20934C01C5}" type="slidenum">
              <a:rPr lang="en-IN" smtClean="0"/>
              <a:t>‹#›</a:t>
            </a:fld>
            <a:endParaRPr lang="en-IN"/>
          </a:p>
        </p:txBody>
      </p:sp>
    </p:spTree>
    <p:extLst>
      <p:ext uri="{BB962C8B-B14F-4D97-AF65-F5344CB8AC3E}">
        <p14:creationId xmlns:p14="http://schemas.microsoft.com/office/powerpoint/2010/main" val="662272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FCD8A1E-8AE6-45FE-B94C-7A370B9B88D9}" type="datetimeFigureOut">
              <a:rPr lang="en-IN" smtClean="0"/>
              <a:t>26-06-2026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C73957C-7CA4-4858-939A-7F20934C01C5}" type="slidenum">
              <a:rPr lang="en-IN" smtClean="0"/>
              <a:t>‹#›</a:t>
            </a:fld>
            <a:endParaRPr lang="en-IN"/>
          </a:p>
        </p:txBody>
      </p:sp>
    </p:spTree>
    <p:extLst>
      <p:ext uri="{BB962C8B-B14F-4D97-AF65-F5344CB8AC3E}">
        <p14:creationId xmlns:p14="http://schemas.microsoft.com/office/powerpoint/2010/main" val="4054557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CD8A1E-8AE6-45FE-B94C-7A370B9B88D9}" type="datetimeFigureOut">
              <a:rPr lang="en-IN" smtClean="0"/>
              <a:t>26-06-2026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C73957C-7CA4-4858-939A-7F20934C01C5}" type="slidenum">
              <a:rPr lang="en-IN" smtClean="0"/>
              <a:t>‹#›</a:t>
            </a:fld>
            <a:endParaRPr lang="en-IN"/>
          </a:p>
        </p:txBody>
      </p:sp>
    </p:spTree>
    <p:extLst>
      <p:ext uri="{BB962C8B-B14F-4D97-AF65-F5344CB8AC3E}">
        <p14:creationId xmlns:p14="http://schemas.microsoft.com/office/powerpoint/2010/main" val="1841925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CD8A1E-8AE6-45FE-B94C-7A370B9B88D9}" type="datetimeFigureOut">
              <a:rPr lang="en-IN" smtClean="0"/>
              <a:t>26-06-2026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73957C-7CA4-4858-939A-7F20934C01C5}" type="slidenum">
              <a:rPr lang="en-IN" smtClean="0"/>
              <a:t>‹#›</a:t>
            </a:fld>
            <a:endParaRPr lang="en-IN"/>
          </a:p>
        </p:txBody>
      </p:sp>
    </p:spTree>
    <p:extLst>
      <p:ext uri="{BB962C8B-B14F-4D97-AF65-F5344CB8AC3E}">
        <p14:creationId xmlns:p14="http://schemas.microsoft.com/office/powerpoint/2010/main" val="449199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CD8A1E-8AE6-45FE-B94C-7A370B9B88D9}" type="datetimeFigureOut">
              <a:rPr lang="en-IN" smtClean="0"/>
              <a:t>26-06-2026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73957C-7CA4-4858-939A-7F20934C01C5}" type="slidenum">
              <a:rPr lang="en-IN" smtClean="0"/>
              <a:t>‹#›</a:t>
            </a:fld>
            <a:endParaRPr lang="en-IN"/>
          </a:p>
        </p:txBody>
      </p:sp>
    </p:spTree>
    <p:extLst>
      <p:ext uri="{BB962C8B-B14F-4D97-AF65-F5344CB8AC3E}">
        <p14:creationId xmlns:p14="http://schemas.microsoft.com/office/powerpoint/2010/main" val="16841391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0FCD8A1E-8AE6-45FE-B94C-7A370B9B88D9}" type="datetimeFigureOut">
              <a:rPr lang="en-IN" smtClean="0"/>
              <a:t>26-06-2026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C73957C-7CA4-4858-939A-7F20934C01C5}" type="slidenum">
              <a:rPr lang="en-IN" smtClean="0"/>
              <a:t>‹#›</a:t>
            </a:fld>
            <a:endParaRPr lang="en-IN"/>
          </a:p>
        </p:txBody>
      </p:sp>
    </p:spTree>
    <p:extLst>
      <p:ext uri="{BB962C8B-B14F-4D97-AF65-F5344CB8AC3E}">
        <p14:creationId xmlns:p14="http://schemas.microsoft.com/office/powerpoint/2010/main" val="17104138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CD8A1E-8AE6-45FE-B94C-7A370B9B88D9}" type="datetimeFigureOut">
              <a:rPr lang="en-IN" smtClean="0"/>
              <a:t>26-06-2026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73957C-7CA4-4858-939A-7F20934C01C5}" type="slidenum">
              <a:rPr lang="en-IN" smtClean="0"/>
              <a:t>‹#›</a:t>
            </a:fld>
            <a:endParaRPr lang="en-IN"/>
          </a:p>
        </p:txBody>
      </p:sp>
    </p:spTree>
    <p:extLst>
      <p:ext uri="{BB962C8B-B14F-4D97-AF65-F5344CB8AC3E}">
        <p14:creationId xmlns:p14="http://schemas.microsoft.com/office/powerpoint/2010/main" val="15534261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CD8A1E-8AE6-45FE-B94C-7A370B9B88D9}" type="datetimeFigureOut">
              <a:rPr lang="en-IN" smtClean="0"/>
              <a:t>26-06-2026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73957C-7CA4-4858-939A-7F20934C01C5}" type="slidenum">
              <a:rPr lang="en-IN" smtClean="0"/>
              <a:t>‹#›</a:t>
            </a:fld>
            <a:endParaRPr lang="en-IN"/>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018538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CD8A1E-8AE6-45FE-B94C-7A370B9B88D9}" type="datetimeFigureOut">
              <a:rPr lang="en-IN" smtClean="0"/>
              <a:t>26-06-2026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73957C-7CA4-4858-939A-7F20934C01C5}" type="slidenum">
              <a:rPr lang="en-IN" smtClean="0"/>
              <a:t>‹#›</a:t>
            </a:fld>
            <a:endParaRPr lang="en-IN"/>
          </a:p>
        </p:txBody>
      </p:sp>
    </p:spTree>
    <p:extLst>
      <p:ext uri="{BB962C8B-B14F-4D97-AF65-F5344CB8AC3E}">
        <p14:creationId xmlns:p14="http://schemas.microsoft.com/office/powerpoint/2010/main" val="6176144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CD8A1E-8AE6-45FE-B94C-7A370B9B88D9}" type="datetimeFigureOut">
              <a:rPr lang="en-IN" smtClean="0"/>
              <a:t>26-06-2026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73957C-7CA4-4858-939A-7F20934C01C5}" type="slidenum">
              <a:rPr lang="en-IN" smtClean="0"/>
              <a:t>‹#›</a:t>
            </a:fld>
            <a:endParaRPr lang="en-IN"/>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0493177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CD8A1E-8AE6-45FE-B94C-7A370B9B88D9}" type="datetimeFigureOut">
              <a:rPr lang="en-IN" smtClean="0"/>
              <a:t>26-06-2026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73957C-7CA4-4858-939A-7F20934C01C5}" type="slidenum">
              <a:rPr lang="en-IN" smtClean="0"/>
              <a:t>‹#›</a:t>
            </a:fld>
            <a:endParaRPr lang="en-IN"/>
          </a:p>
        </p:txBody>
      </p:sp>
    </p:spTree>
    <p:extLst>
      <p:ext uri="{BB962C8B-B14F-4D97-AF65-F5344CB8AC3E}">
        <p14:creationId xmlns:p14="http://schemas.microsoft.com/office/powerpoint/2010/main" val="40640165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CD8A1E-8AE6-45FE-B94C-7A370B9B88D9}" type="datetimeFigureOut">
              <a:rPr lang="en-IN" smtClean="0"/>
              <a:t>26-06-2026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73957C-7CA4-4858-939A-7F20934C01C5}" type="slidenum">
              <a:rPr lang="en-IN" smtClean="0"/>
              <a:t>‹#›</a:t>
            </a:fld>
            <a:endParaRPr lang="en-IN"/>
          </a:p>
        </p:txBody>
      </p:sp>
    </p:spTree>
    <p:extLst>
      <p:ext uri="{BB962C8B-B14F-4D97-AF65-F5344CB8AC3E}">
        <p14:creationId xmlns:p14="http://schemas.microsoft.com/office/powerpoint/2010/main" val="41378282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CD8A1E-8AE6-45FE-B94C-7A370B9B88D9}" type="datetimeFigureOut">
              <a:rPr lang="en-IN" smtClean="0"/>
              <a:t>26-06-2026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73957C-7CA4-4858-939A-7F20934C01C5}" type="slidenum">
              <a:rPr lang="en-IN" smtClean="0"/>
              <a:t>‹#›</a:t>
            </a:fld>
            <a:endParaRPr lang="en-IN"/>
          </a:p>
        </p:txBody>
      </p:sp>
    </p:spTree>
    <p:extLst>
      <p:ext uri="{BB962C8B-B14F-4D97-AF65-F5344CB8AC3E}">
        <p14:creationId xmlns:p14="http://schemas.microsoft.com/office/powerpoint/2010/main" val="28407897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0FCD8A1E-8AE6-45FE-B94C-7A370B9B88D9}" type="datetimeFigureOut">
              <a:rPr lang="en-IN" smtClean="0"/>
              <a:t>26-06-2026</a:t>
            </a:fld>
            <a:endParaRPr lang="en-IN"/>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IN"/>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BC73957C-7CA4-4858-939A-7F20934C01C5}" type="slidenum">
              <a:rPr lang="en-IN" smtClean="0"/>
              <a:t>‹#›</a:t>
            </a:fld>
            <a:endParaRPr lang="en-IN"/>
          </a:p>
        </p:txBody>
      </p:sp>
    </p:spTree>
    <p:extLst>
      <p:ext uri="{BB962C8B-B14F-4D97-AF65-F5344CB8AC3E}">
        <p14:creationId xmlns:p14="http://schemas.microsoft.com/office/powerpoint/2010/main" val="69910571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Layout" Target="../diagrams/layout1.xml"/><Relationship Id="rId7" Type="http://schemas.openxmlformats.org/officeDocument/2006/relationships/image" Target="../media/image1.png"/><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3D8A6-7C8F-496E-932A-8192CF607A67}"/>
              </a:ext>
            </a:extLst>
          </p:cNvPr>
          <p:cNvSpPr>
            <a:spLocks noGrp="1"/>
          </p:cNvSpPr>
          <p:nvPr>
            <p:ph type="ctrTitle"/>
          </p:nvPr>
        </p:nvSpPr>
        <p:spPr>
          <a:xfrm>
            <a:off x="1134532" y="-283900"/>
            <a:ext cx="9144000" cy="2443163"/>
          </a:xfrm>
        </p:spPr>
        <p:txBody>
          <a:bodyPr>
            <a:normAutofit/>
          </a:bodyPr>
          <a:lstStyle/>
          <a:p>
            <a:r>
              <a:rPr lang="en-US" sz="2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2800" spc="-13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spc="-1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Title :- PASSWOD STRENGTH CHECKER</a:t>
            </a:r>
            <a:br>
              <a:rPr lang="en-IN" sz="2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GTU</a:t>
            </a:r>
            <a:r>
              <a:rPr lang="en-US" sz="2800" spc="-4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SBTP</a:t>
            </a:r>
            <a:r>
              <a:rPr lang="en-US" sz="2800" spc="-7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-2026</a:t>
            </a:r>
            <a:r>
              <a:rPr lang="en-US" sz="28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(Subject</a:t>
            </a:r>
            <a:r>
              <a:rPr lang="en-US" sz="28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Code:</a:t>
            </a:r>
            <a:r>
              <a:rPr lang="en-US" sz="28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spc="-10" dirty="0">
                <a:effectLst/>
                <a:latin typeface="Times New Roman" panose="02020603050405020304" pitchFamily="18" charset="0"/>
                <a:ea typeface="Times New Roman" panose="02020603050405020304" pitchFamily="18" charset="0"/>
                <a:cs typeface="Times New Roman" panose="02020603050405020304" pitchFamily="18" charset="0"/>
              </a:rPr>
              <a:t>DI05000011)</a:t>
            </a:r>
            <a:br>
              <a:rPr lang="en-IN" sz="2800"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graphicFrame>
        <p:nvGraphicFramePr>
          <p:cNvPr id="6" name="Diagram 5">
            <a:extLst>
              <a:ext uri="{FF2B5EF4-FFF2-40B4-BE49-F238E27FC236}">
                <a16:creationId xmlns:a16="http://schemas.microsoft.com/office/drawing/2014/main" id="{7F96CD3B-4861-4D7F-97B9-F15D550F5208}"/>
              </a:ext>
            </a:extLst>
          </p:cNvPr>
          <p:cNvGraphicFramePr/>
          <p:nvPr>
            <p:extLst>
              <p:ext uri="{D42A27DB-BD31-4B8C-83A1-F6EECF244321}">
                <p14:modId xmlns:p14="http://schemas.microsoft.com/office/powerpoint/2010/main" val="545266899"/>
              </p:ext>
            </p:extLst>
          </p:nvPr>
        </p:nvGraphicFramePr>
        <p:xfrm>
          <a:off x="1303867" y="2159263"/>
          <a:ext cx="9144000" cy="3352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Image 1">
            <a:extLst>
              <a:ext uri="{FF2B5EF4-FFF2-40B4-BE49-F238E27FC236}">
                <a16:creationId xmlns:a16="http://schemas.microsoft.com/office/drawing/2014/main" id="{3970BA1E-F61E-4897-A3C2-3848C042AE43}"/>
              </a:ext>
            </a:extLst>
          </p:cNvPr>
          <p:cNvPicPr/>
          <p:nvPr/>
        </p:nvPicPr>
        <p:blipFill>
          <a:blip r:embed="rId7" cstate="print"/>
          <a:stretch>
            <a:fillRect/>
          </a:stretch>
        </p:blipFill>
        <p:spPr>
          <a:xfrm>
            <a:off x="243310" y="92868"/>
            <a:ext cx="1579245" cy="612775"/>
          </a:xfrm>
          <a:prstGeom prst="rect">
            <a:avLst/>
          </a:prstGeom>
        </p:spPr>
      </p:pic>
      <p:pic>
        <p:nvPicPr>
          <p:cNvPr id="5" name="Image 2">
            <a:extLst>
              <a:ext uri="{FF2B5EF4-FFF2-40B4-BE49-F238E27FC236}">
                <a16:creationId xmlns:a16="http://schemas.microsoft.com/office/drawing/2014/main" id="{8E368DB2-D710-463D-88F7-9E7E05966DC9}"/>
              </a:ext>
            </a:extLst>
          </p:cNvPr>
          <p:cNvPicPr/>
          <p:nvPr/>
        </p:nvPicPr>
        <p:blipFill>
          <a:blip r:embed="rId8" cstate="print"/>
          <a:stretch>
            <a:fillRect/>
          </a:stretch>
        </p:blipFill>
        <p:spPr>
          <a:xfrm>
            <a:off x="11031750" y="92868"/>
            <a:ext cx="916940" cy="741363"/>
          </a:xfrm>
          <a:prstGeom prst="rect">
            <a:avLst/>
          </a:prstGeom>
        </p:spPr>
      </p:pic>
    </p:spTree>
    <p:extLst>
      <p:ext uri="{BB962C8B-B14F-4D97-AF65-F5344CB8AC3E}">
        <p14:creationId xmlns:p14="http://schemas.microsoft.com/office/powerpoint/2010/main" val="9552758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09B73-8A66-499C-BF46-B1B65376F926}"/>
              </a:ext>
            </a:extLst>
          </p:cNvPr>
          <p:cNvSpPr>
            <a:spLocks noGrp="1"/>
          </p:cNvSpPr>
          <p:nvPr>
            <p:ph type="title"/>
          </p:nvPr>
        </p:nvSpPr>
        <p:spPr>
          <a:xfrm>
            <a:off x="838200" y="1042593"/>
            <a:ext cx="10515600" cy="1186921"/>
          </a:xfrm>
        </p:spPr>
        <p:txBody>
          <a:bodyPr/>
          <a:lstStyle/>
          <a:p>
            <a:br>
              <a:rPr lang="en-IN" sz="1800" b="1" dirty="0">
                <a:effectLst/>
                <a:latin typeface="Arial" panose="020B0604020202020204" pitchFamily="34" charset="0"/>
                <a:ea typeface="Arial" panose="020B0604020202020204" pitchFamily="34" charset="0"/>
              </a:rPr>
            </a:br>
            <a:r>
              <a:rPr lang="en-IN" sz="2800" b="1" dirty="0">
                <a:effectLst/>
                <a:latin typeface="Times New Roman" panose="02020603050405020304" pitchFamily="18" charset="0"/>
                <a:ea typeface="Arial" panose="020B0604020202020204" pitchFamily="34" charset="0"/>
                <a:cs typeface="Times New Roman" panose="02020603050405020304" pitchFamily="18" charset="0"/>
              </a:rPr>
              <a:t>Introduction</a:t>
            </a:r>
            <a:r>
              <a:rPr lang="en-IN" sz="2800" b="1" dirty="0">
                <a:effectLst/>
                <a:latin typeface="Arial" panose="020B0604020202020204" pitchFamily="34" charset="0"/>
                <a:ea typeface="Arial" panose="020B0604020202020204" pitchFamily="34" charset="0"/>
              </a:rPr>
              <a:t>:-</a:t>
            </a:r>
            <a:endParaRPr lang="en-IN" sz="2800" dirty="0"/>
          </a:p>
        </p:txBody>
      </p:sp>
      <p:sp>
        <p:nvSpPr>
          <p:cNvPr id="8" name="Rectangle 1">
            <a:extLst>
              <a:ext uri="{FF2B5EF4-FFF2-40B4-BE49-F238E27FC236}">
                <a16:creationId xmlns:a16="http://schemas.microsoft.com/office/drawing/2014/main" id="{7B566773-D929-4342-BA5C-601227210CE8}"/>
              </a:ext>
            </a:extLst>
          </p:cNvPr>
          <p:cNvSpPr>
            <a:spLocks noGrp="1" noChangeArrowheads="1"/>
          </p:cNvSpPr>
          <p:nvPr>
            <p:ph idx="1"/>
          </p:nvPr>
        </p:nvSpPr>
        <p:spPr bwMode="auto">
          <a:xfrm>
            <a:off x="651932" y="2029755"/>
            <a:ext cx="9254067"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lang="en-US" sz="2000" dirty="0">
                <a:latin typeface="Times New Roman" panose="02020603050405020304" pitchFamily="18" charset="0"/>
                <a:cs typeface="Times New Roman" panose="02020603050405020304" pitchFamily="18" charset="0"/>
              </a:rPr>
              <a:t>A Password Strength Checker is a web-based tool designed to help users create strong and secure passwords. It analyzes the strength of a password based on factors such as length, the use of uppercase and lowercase letters, numbers, special characters, and overall complexity. The website provides instant feedback and suggestions to improve weak passwords, helping users protect their online accounts from unauthorized access, hacking, and cyber threats.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lang="en-US" sz="2000" dirty="0">
                <a:latin typeface="Times New Roman" panose="02020603050405020304" pitchFamily="18" charset="0"/>
                <a:cs typeface="Times New Roman" panose="02020603050405020304" pitchFamily="18" charset="0"/>
              </a:rPr>
              <a:t>The primary goal of a Password Strength Checker is to promote better cybersecurity practices by encouraging users to create unique and difficult-to-guess passwords. With the increasing number of online services and digital accounts, using strong passwords is essential for safeguarding personal and sensitive information. This website offers a simple, user-friendly interface that allows users to evaluate and enhance their passwords before using them for important accounts.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4" name="Image 1">
            <a:extLst>
              <a:ext uri="{FF2B5EF4-FFF2-40B4-BE49-F238E27FC236}">
                <a16:creationId xmlns:a16="http://schemas.microsoft.com/office/drawing/2014/main" id="{2BC7A0F0-725C-464C-93C1-77EB39B05ED8}"/>
              </a:ext>
            </a:extLst>
          </p:cNvPr>
          <p:cNvPicPr/>
          <p:nvPr/>
        </p:nvPicPr>
        <p:blipFill>
          <a:blip r:embed="rId2" cstate="print"/>
          <a:stretch>
            <a:fillRect/>
          </a:stretch>
        </p:blipFill>
        <p:spPr>
          <a:xfrm>
            <a:off x="226377" y="93662"/>
            <a:ext cx="1661690" cy="837671"/>
          </a:xfrm>
          <a:prstGeom prst="rect">
            <a:avLst/>
          </a:prstGeom>
        </p:spPr>
      </p:pic>
      <p:pic>
        <p:nvPicPr>
          <p:cNvPr id="5" name="Image 2">
            <a:extLst>
              <a:ext uri="{FF2B5EF4-FFF2-40B4-BE49-F238E27FC236}">
                <a16:creationId xmlns:a16="http://schemas.microsoft.com/office/drawing/2014/main" id="{699A7AC0-D6AB-43BC-B9D8-64574366DA8F}"/>
              </a:ext>
            </a:extLst>
          </p:cNvPr>
          <p:cNvPicPr/>
          <p:nvPr/>
        </p:nvPicPr>
        <p:blipFill>
          <a:blip r:embed="rId3" cstate="print"/>
          <a:stretch>
            <a:fillRect/>
          </a:stretch>
        </p:blipFill>
        <p:spPr>
          <a:xfrm>
            <a:off x="10963063" y="93662"/>
            <a:ext cx="916940" cy="904875"/>
          </a:xfrm>
          <a:prstGeom prst="rect">
            <a:avLst/>
          </a:prstGeom>
        </p:spPr>
      </p:pic>
    </p:spTree>
    <p:extLst>
      <p:ext uri="{BB962C8B-B14F-4D97-AF65-F5344CB8AC3E}">
        <p14:creationId xmlns:p14="http://schemas.microsoft.com/office/powerpoint/2010/main" val="2722905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2E496-9789-43C8-B884-67775034CA98}"/>
              </a:ext>
            </a:extLst>
          </p:cNvPr>
          <p:cNvSpPr>
            <a:spLocks noGrp="1"/>
          </p:cNvSpPr>
          <p:nvPr>
            <p:ph type="title"/>
          </p:nvPr>
        </p:nvSpPr>
        <p:spPr>
          <a:xfrm>
            <a:off x="870480" y="1202266"/>
            <a:ext cx="8534400" cy="1507067"/>
          </a:xfrm>
        </p:spPr>
        <p:txBody>
          <a:bodyPr>
            <a:normAutofit/>
          </a:bodyPr>
          <a:lstStyle/>
          <a:p>
            <a:r>
              <a:rPr lang="en-US" b="1" dirty="0">
                <a:latin typeface="Times New Roman" panose="02020603050405020304" pitchFamily="18" charset="0"/>
                <a:cs typeface="Times New Roman" panose="02020603050405020304" pitchFamily="18" charset="0"/>
              </a:rPr>
              <a:t>Problem </a:t>
            </a:r>
            <a:r>
              <a:rPr lang="en-US" b="1" dirty="0" err="1">
                <a:latin typeface="Times New Roman" panose="02020603050405020304" pitchFamily="18" charset="0"/>
                <a:cs typeface="Times New Roman" panose="02020603050405020304" pitchFamily="18" charset="0"/>
              </a:rPr>
              <a:t>StatemENT</a:t>
            </a:r>
            <a:br>
              <a:rPr lang="en-US"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684D532-2D4B-4FC0-999E-6881E7336395}"/>
              </a:ext>
            </a:extLst>
          </p:cNvPr>
          <p:cNvSpPr>
            <a:spLocks noGrp="1"/>
          </p:cNvSpPr>
          <p:nvPr>
            <p:ph idx="1"/>
          </p:nvPr>
        </p:nvSpPr>
        <p:spPr>
          <a:xfrm>
            <a:off x="777346" y="2345264"/>
            <a:ext cx="8534400" cy="3691467"/>
          </a:xfrm>
        </p:spPr>
        <p:txBody>
          <a:bodyPr/>
          <a:lstStyle/>
          <a:p>
            <a:pPr>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Many users choose simple passwords. </a:t>
            </a:r>
          </a:p>
          <a:p>
            <a:pPr>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Weak passwords increase the risk of: </a:t>
            </a:r>
          </a:p>
          <a:p>
            <a:pPr lvl="1">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Unauthorized access </a:t>
            </a:r>
          </a:p>
          <a:p>
            <a:pPr lvl="1">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Data theft </a:t>
            </a:r>
          </a:p>
          <a:p>
            <a:pPr lvl="1">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Identity t</a:t>
            </a:r>
            <a:r>
              <a:rPr lang="en-US" dirty="0"/>
              <a:t>heft </a:t>
            </a:r>
          </a:p>
          <a:p>
            <a:pPr lvl="1">
              <a:buFont typeface="Wingdings" panose="05000000000000000000" pitchFamily="2" charset="2"/>
              <a:buChar char="q"/>
            </a:pPr>
            <a:r>
              <a:rPr lang="en-US" dirty="0"/>
              <a:t>Cyberattacks </a:t>
            </a:r>
          </a:p>
          <a:p>
            <a:pPr marL="457200" lvl="1" indent="0">
              <a:buNone/>
            </a:pPr>
            <a:endParaRPr lang="en-IN" sz="3400" b="1" dirty="0">
              <a:effectLst/>
              <a:latin typeface="Arial" panose="020B0604020202020204" pitchFamily="34" charset="0"/>
              <a:ea typeface="Arial" panose="020B0604020202020204" pitchFamily="34" charset="0"/>
            </a:endParaRPr>
          </a:p>
          <a:p>
            <a:endParaRPr lang="en-IN" dirty="0"/>
          </a:p>
        </p:txBody>
      </p:sp>
      <p:pic>
        <p:nvPicPr>
          <p:cNvPr id="4" name="Image 1">
            <a:extLst>
              <a:ext uri="{FF2B5EF4-FFF2-40B4-BE49-F238E27FC236}">
                <a16:creationId xmlns:a16="http://schemas.microsoft.com/office/drawing/2014/main" id="{03D1C1A9-1F41-4B0D-8E2E-3879B8C5B768}"/>
              </a:ext>
            </a:extLst>
          </p:cNvPr>
          <p:cNvPicPr/>
          <p:nvPr/>
        </p:nvPicPr>
        <p:blipFill>
          <a:blip r:embed="rId2" cstate="print"/>
          <a:stretch>
            <a:fillRect/>
          </a:stretch>
        </p:blipFill>
        <p:spPr>
          <a:xfrm>
            <a:off x="226377" y="93662"/>
            <a:ext cx="1661690" cy="837671"/>
          </a:xfrm>
          <a:prstGeom prst="rect">
            <a:avLst/>
          </a:prstGeom>
        </p:spPr>
      </p:pic>
      <p:pic>
        <p:nvPicPr>
          <p:cNvPr id="5" name="Image 2">
            <a:extLst>
              <a:ext uri="{FF2B5EF4-FFF2-40B4-BE49-F238E27FC236}">
                <a16:creationId xmlns:a16="http://schemas.microsoft.com/office/drawing/2014/main" id="{9DB89F7A-AB93-4171-8880-CAE326568559}"/>
              </a:ext>
            </a:extLst>
          </p:cNvPr>
          <p:cNvPicPr/>
          <p:nvPr/>
        </p:nvPicPr>
        <p:blipFill>
          <a:blip r:embed="rId3" cstate="print"/>
          <a:stretch>
            <a:fillRect/>
          </a:stretch>
        </p:blipFill>
        <p:spPr>
          <a:xfrm>
            <a:off x="10963063" y="93662"/>
            <a:ext cx="916940" cy="904875"/>
          </a:xfrm>
          <a:prstGeom prst="rect">
            <a:avLst/>
          </a:prstGeom>
        </p:spPr>
      </p:pic>
    </p:spTree>
    <p:extLst>
      <p:ext uri="{BB962C8B-B14F-4D97-AF65-F5344CB8AC3E}">
        <p14:creationId xmlns:p14="http://schemas.microsoft.com/office/powerpoint/2010/main" val="32516131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F6C5F-DE09-420D-961D-268AFE24E997}"/>
              </a:ext>
            </a:extLst>
          </p:cNvPr>
          <p:cNvSpPr>
            <a:spLocks noGrp="1"/>
          </p:cNvSpPr>
          <p:nvPr>
            <p:ph type="title"/>
          </p:nvPr>
        </p:nvSpPr>
        <p:spPr>
          <a:xfrm>
            <a:off x="658812" y="1184802"/>
            <a:ext cx="8534400" cy="1507067"/>
          </a:xfrm>
        </p:spPr>
        <p:txBody>
          <a:bodyPr>
            <a:normAutofit/>
          </a:bodyPr>
          <a:lstStyle/>
          <a:p>
            <a:r>
              <a:rPr lang="en-IN" sz="2400" dirty="0">
                <a:latin typeface="Times New Roman" panose="02020603050405020304" pitchFamily="18" charset="0"/>
                <a:cs typeface="Times New Roman" panose="02020603050405020304" pitchFamily="18" charset="0"/>
              </a:rPr>
              <a:t>Objectives:-</a:t>
            </a:r>
            <a:br>
              <a:rPr lang="en-IN" sz="2400" b="1" dirty="0">
                <a:effectLst/>
                <a:latin typeface="Arial" panose="020B0604020202020204" pitchFamily="34" charset="0"/>
                <a:ea typeface="Arial" panose="020B0604020202020204" pitchFamily="34" charset="0"/>
              </a:rPr>
            </a:br>
            <a:endParaRPr lang="en-IN" sz="2400" dirty="0"/>
          </a:p>
        </p:txBody>
      </p:sp>
      <p:sp>
        <p:nvSpPr>
          <p:cNvPr id="3" name="Content Placeholder 2">
            <a:extLst>
              <a:ext uri="{FF2B5EF4-FFF2-40B4-BE49-F238E27FC236}">
                <a16:creationId xmlns:a16="http://schemas.microsoft.com/office/drawing/2014/main" id="{972FF0E9-6001-486D-B5A0-5B7289BB8A09}"/>
              </a:ext>
            </a:extLst>
          </p:cNvPr>
          <p:cNvSpPr>
            <a:spLocks noGrp="1"/>
          </p:cNvSpPr>
          <p:nvPr>
            <p:ph idx="1"/>
          </p:nvPr>
        </p:nvSpPr>
        <p:spPr>
          <a:xfrm>
            <a:off x="582612" y="1485899"/>
            <a:ext cx="8534400" cy="3615267"/>
          </a:xfrm>
        </p:spPr>
        <p:txBody>
          <a:bodyPr/>
          <a:lstStyle/>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Check password strength. </a:t>
            </a:r>
          </a:p>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Suggest improvements for weak passwords. </a:t>
            </a:r>
          </a:p>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Encourage secure password practices. </a:t>
            </a:r>
          </a:p>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Reduce the risk of password-based attacks. </a:t>
            </a:r>
          </a:p>
          <a:p>
            <a:endParaRPr lang="en-IN" dirty="0"/>
          </a:p>
        </p:txBody>
      </p:sp>
      <p:pic>
        <p:nvPicPr>
          <p:cNvPr id="4" name="Image 1">
            <a:extLst>
              <a:ext uri="{FF2B5EF4-FFF2-40B4-BE49-F238E27FC236}">
                <a16:creationId xmlns:a16="http://schemas.microsoft.com/office/drawing/2014/main" id="{9B8DB8E2-5878-4893-97E5-1C53B94F7903}"/>
              </a:ext>
            </a:extLst>
          </p:cNvPr>
          <p:cNvPicPr/>
          <p:nvPr/>
        </p:nvPicPr>
        <p:blipFill>
          <a:blip r:embed="rId2" cstate="print"/>
          <a:stretch>
            <a:fillRect/>
          </a:stretch>
        </p:blipFill>
        <p:spPr>
          <a:xfrm>
            <a:off x="226377" y="93662"/>
            <a:ext cx="1661690" cy="837671"/>
          </a:xfrm>
          <a:prstGeom prst="rect">
            <a:avLst/>
          </a:prstGeom>
        </p:spPr>
      </p:pic>
      <p:pic>
        <p:nvPicPr>
          <p:cNvPr id="5" name="Image 2">
            <a:extLst>
              <a:ext uri="{FF2B5EF4-FFF2-40B4-BE49-F238E27FC236}">
                <a16:creationId xmlns:a16="http://schemas.microsoft.com/office/drawing/2014/main" id="{9489578E-93F8-4E6C-B7D8-7811ECC51BDE}"/>
              </a:ext>
            </a:extLst>
          </p:cNvPr>
          <p:cNvPicPr/>
          <p:nvPr/>
        </p:nvPicPr>
        <p:blipFill>
          <a:blip r:embed="rId3" cstate="print"/>
          <a:stretch>
            <a:fillRect/>
          </a:stretch>
        </p:blipFill>
        <p:spPr>
          <a:xfrm>
            <a:off x="10963063" y="93662"/>
            <a:ext cx="916940" cy="904875"/>
          </a:xfrm>
          <a:prstGeom prst="rect">
            <a:avLst/>
          </a:prstGeom>
        </p:spPr>
      </p:pic>
    </p:spTree>
    <p:extLst>
      <p:ext uri="{BB962C8B-B14F-4D97-AF65-F5344CB8AC3E}">
        <p14:creationId xmlns:p14="http://schemas.microsoft.com/office/powerpoint/2010/main" val="23074854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ED3BA-4225-4112-8E82-D4D905AB867F}"/>
              </a:ext>
            </a:extLst>
          </p:cNvPr>
          <p:cNvSpPr>
            <a:spLocks noGrp="1"/>
          </p:cNvSpPr>
          <p:nvPr>
            <p:ph type="title"/>
          </p:nvPr>
        </p:nvSpPr>
        <p:spPr>
          <a:xfrm>
            <a:off x="684212" y="1159933"/>
            <a:ext cx="8534400" cy="1507067"/>
          </a:xfrm>
        </p:spPr>
        <p:txBody>
          <a:bodyPr/>
          <a:lstStyle/>
          <a:p>
            <a:r>
              <a:rPr lang="en-IN" dirty="0">
                <a:latin typeface="Times New Roman" panose="02020603050405020304" pitchFamily="18" charset="0"/>
                <a:cs typeface="Times New Roman" panose="02020603050405020304" pitchFamily="18" charset="0"/>
              </a:rPr>
              <a:t>Features:-</a:t>
            </a:r>
          </a:p>
        </p:txBody>
      </p:sp>
      <p:pic>
        <p:nvPicPr>
          <p:cNvPr id="4" name="Image 1">
            <a:extLst>
              <a:ext uri="{FF2B5EF4-FFF2-40B4-BE49-F238E27FC236}">
                <a16:creationId xmlns:a16="http://schemas.microsoft.com/office/drawing/2014/main" id="{F7D7352A-5C9D-4276-A1A5-4A1AFAE67FA6}"/>
              </a:ext>
            </a:extLst>
          </p:cNvPr>
          <p:cNvPicPr/>
          <p:nvPr/>
        </p:nvPicPr>
        <p:blipFill>
          <a:blip r:embed="rId2" cstate="print"/>
          <a:stretch>
            <a:fillRect/>
          </a:stretch>
        </p:blipFill>
        <p:spPr>
          <a:xfrm>
            <a:off x="226377" y="93662"/>
            <a:ext cx="1661690" cy="837671"/>
          </a:xfrm>
          <a:prstGeom prst="rect">
            <a:avLst/>
          </a:prstGeom>
        </p:spPr>
      </p:pic>
      <p:pic>
        <p:nvPicPr>
          <p:cNvPr id="5" name="Image 2">
            <a:extLst>
              <a:ext uri="{FF2B5EF4-FFF2-40B4-BE49-F238E27FC236}">
                <a16:creationId xmlns:a16="http://schemas.microsoft.com/office/drawing/2014/main" id="{643BCBEA-8DAC-447C-BE10-26570923AB59}"/>
              </a:ext>
            </a:extLst>
          </p:cNvPr>
          <p:cNvPicPr/>
          <p:nvPr/>
        </p:nvPicPr>
        <p:blipFill>
          <a:blip r:embed="rId3" cstate="print"/>
          <a:stretch>
            <a:fillRect/>
          </a:stretch>
        </p:blipFill>
        <p:spPr>
          <a:xfrm>
            <a:off x="10963063" y="93662"/>
            <a:ext cx="916940" cy="904875"/>
          </a:xfrm>
          <a:prstGeom prst="rect">
            <a:avLst/>
          </a:prstGeom>
        </p:spPr>
      </p:pic>
      <p:sp>
        <p:nvSpPr>
          <p:cNvPr id="6" name="Rectangle 1">
            <a:extLst>
              <a:ext uri="{FF2B5EF4-FFF2-40B4-BE49-F238E27FC236}">
                <a16:creationId xmlns:a16="http://schemas.microsoft.com/office/drawing/2014/main" id="{CCAE706B-7AFA-42B3-95DF-AD20079D54EF}"/>
              </a:ext>
            </a:extLst>
          </p:cNvPr>
          <p:cNvSpPr>
            <a:spLocks noGrp="1" noChangeArrowheads="1"/>
          </p:cNvSpPr>
          <p:nvPr>
            <p:ph idx="1"/>
          </p:nvPr>
        </p:nvSpPr>
        <p:spPr bwMode="auto">
          <a:xfrm>
            <a:off x="616479" y="2091266"/>
            <a:ext cx="8832321"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Minimum length validation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Uppercase letter check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Lowercase letter check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Number check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Special character check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Password strength rating: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Weak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Medium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Strong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203556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A4D11-9942-4B1D-9E9C-D3B97F051DB5}"/>
              </a:ext>
            </a:extLst>
          </p:cNvPr>
          <p:cNvSpPr>
            <a:spLocks noGrp="1"/>
          </p:cNvSpPr>
          <p:nvPr>
            <p:ph type="title"/>
          </p:nvPr>
        </p:nvSpPr>
        <p:spPr>
          <a:xfrm>
            <a:off x="548746" y="1113366"/>
            <a:ext cx="8534400" cy="1507067"/>
          </a:xfrm>
        </p:spPr>
        <p:txBody>
          <a:bodyPr>
            <a:normAutofit/>
          </a:bodyPr>
          <a:lstStyle/>
          <a:p>
            <a:r>
              <a:rPr lang="en-IN" sz="3200" dirty="0">
                <a:latin typeface="Times New Roman" panose="02020603050405020304" pitchFamily="18" charset="0"/>
                <a:cs typeface="Times New Roman" panose="02020603050405020304" pitchFamily="18" charset="0"/>
              </a:rPr>
              <a:t>Technologies Used:-</a:t>
            </a:r>
          </a:p>
        </p:txBody>
      </p:sp>
      <p:pic>
        <p:nvPicPr>
          <p:cNvPr id="4" name="Image 2">
            <a:extLst>
              <a:ext uri="{FF2B5EF4-FFF2-40B4-BE49-F238E27FC236}">
                <a16:creationId xmlns:a16="http://schemas.microsoft.com/office/drawing/2014/main" id="{34323582-9B27-4356-863F-C332AC06E5E9}"/>
              </a:ext>
            </a:extLst>
          </p:cNvPr>
          <p:cNvPicPr/>
          <p:nvPr/>
        </p:nvPicPr>
        <p:blipFill>
          <a:blip r:embed="rId2" cstate="print"/>
          <a:stretch>
            <a:fillRect/>
          </a:stretch>
        </p:blipFill>
        <p:spPr>
          <a:xfrm>
            <a:off x="10963063" y="93662"/>
            <a:ext cx="916940" cy="904875"/>
          </a:xfrm>
          <a:prstGeom prst="rect">
            <a:avLst/>
          </a:prstGeom>
        </p:spPr>
      </p:pic>
      <p:pic>
        <p:nvPicPr>
          <p:cNvPr id="5" name="Image 1">
            <a:extLst>
              <a:ext uri="{FF2B5EF4-FFF2-40B4-BE49-F238E27FC236}">
                <a16:creationId xmlns:a16="http://schemas.microsoft.com/office/drawing/2014/main" id="{FB3AA147-E91A-447D-B787-145F8E83BDBC}"/>
              </a:ext>
            </a:extLst>
          </p:cNvPr>
          <p:cNvPicPr/>
          <p:nvPr/>
        </p:nvPicPr>
        <p:blipFill>
          <a:blip r:embed="rId3" cstate="print"/>
          <a:stretch>
            <a:fillRect/>
          </a:stretch>
        </p:blipFill>
        <p:spPr>
          <a:xfrm>
            <a:off x="226377" y="93662"/>
            <a:ext cx="1661690" cy="837671"/>
          </a:xfrm>
          <a:prstGeom prst="rect">
            <a:avLst/>
          </a:prstGeom>
        </p:spPr>
      </p:pic>
      <p:sp>
        <p:nvSpPr>
          <p:cNvPr id="6" name="Rectangle 1">
            <a:extLst>
              <a:ext uri="{FF2B5EF4-FFF2-40B4-BE49-F238E27FC236}">
                <a16:creationId xmlns:a16="http://schemas.microsoft.com/office/drawing/2014/main" id="{1A35541B-EC5D-4011-B5CD-AA95BCB930BE}"/>
              </a:ext>
            </a:extLst>
          </p:cNvPr>
          <p:cNvSpPr>
            <a:spLocks noGrp="1" noChangeArrowheads="1"/>
          </p:cNvSpPr>
          <p:nvPr>
            <p:ph idx="1"/>
          </p:nvPr>
        </p:nvSpPr>
        <p:spPr bwMode="auto">
          <a:xfrm>
            <a:off x="548746" y="2213109"/>
            <a:ext cx="6688049"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Programming Language: Python / Java / JavaScript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Frontend: HTML, CSS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Backend: Python (Flask) or Java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Database (Optional): MySQL </a:t>
            </a:r>
          </a:p>
        </p:txBody>
      </p:sp>
    </p:spTree>
    <p:extLst>
      <p:ext uri="{BB962C8B-B14F-4D97-AF65-F5344CB8AC3E}">
        <p14:creationId xmlns:p14="http://schemas.microsoft.com/office/powerpoint/2010/main" val="3290033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7018F-5A5B-4FA3-BAA4-BA9962FAA1AC}"/>
              </a:ext>
            </a:extLst>
          </p:cNvPr>
          <p:cNvSpPr>
            <a:spLocks noGrp="1"/>
          </p:cNvSpPr>
          <p:nvPr>
            <p:ph type="title"/>
          </p:nvPr>
        </p:nvSpPr>
        <p:spPr>
          <a:xfrm>
            <a:off x="735012" y="1214966"/>
            <a:ext cx="8534400" cy="1507067"/>
          </a:xfrm>
        </p:spPr>
        <p:txBody>
          <a:bodyPr>
            <a:normAutofit/>
          </a:bodyPr>
          <a:lstStyle/>
          <a:p>
            <a:r>
              <a:rPr lang="en-IN" sz="3200" dirty="0">
                <a:latin typeface="Times New Roman" panose="02020603050405020304" pitchFamily="18" charset="0"/>
                <a:cs typeface="Times New Roman" panose="02020603050405020304" pitchFamily="18" charset="0"/>
              </a:rPr>
              <a:t>Working Process:-</a:t>
            </a:r>
          </a:p>
        </p:txBody>
      </p:sp>
      <p:sp>
        <p:nvSpPr>
          <p:cNvPr id="3" name="Content Placeholder 2">
            <a:extLst>
              <a:ext uri="{FF2B5EF4-FFF2-40B4-BE49-F238E27FC236}">
                <a16:creationId xmlns:a16="http://schemas.microsoft.com/office/drawing/2014/main" id="{E6C5570E-5D18-4195-90BA-BAD9087561CD}"/>
              </a:ext>
            </a:extLst>
          </p:cNvPr>
          <p:cNvSpPr>
            <a:spLocks noGrp="1"/>
          </p:cNvSpPr>
          <p:nvPr>
            <p:ph idx="1"/>
          </p:nvPr>
        </p:nvSpPr>
        <p:spPr>
          <a:xfrm>
            <a:off x="735012" y="2514599"/>
            <a:ext cx="8534400" cy="3615267"/>
          </a:xfrm>
        </p:spPr>
        <p:txBody>
          <a:bodyPr>
            <a:normAutofit fontScale="92500" lnSpcReduction="20000"/>
          </a:bodyPr>
          <a:lstStyle/>
          <a:p>
            <a:pPr>
              <a:buFont typeface="+mj-lt"/>
              <a:buAutoNum type="arabicPeriod"/>
            </a:pPr>
            <a:r>
              <a:rPr lang="en-US" sz="2200" dirty="0">
                <a:latin typeface="Times New Roman" panose="02020603050405020304" pitchFamily="18" charset="0"/>
                <a:cs typeface="Times New Roman" panose="02020603050405020304" pitchFamily="18" charset="0"/>
              </a:rPr>
              <a:t>User enters a password. </a:t>
            </a:r>
          </a:p>
          <a:p>
            <a:pPr>
              <a:buFont typeface="+mj-lt"/>
              <a:buAutoNum type="arabicPeriod"/>
            </a:pPr>
            <a:r>
              <a:rPr lang="en-US" sz="2200" dirty="0">
                <a:latin typeface="Times New Roman" panose="02020603050405020304" pitchFamily="18" charset="0"/>
                <a:cs typeface="Times New Roman" panose="02020603050405020304" pitchFamily="18" charset="0"/>
              </a:rPr>
              <a:t>System checks: </a:t>
            </a:r>
          </a:p>
          <a:p>
            <a:pPr marL="742950" lvl="1" indent="-285750">
              <a:buFont typeface="+mj-lt"/>
              <a:buAutoNum type="arabicPeriod"/>
            </a:pPr>
            <a:r>
              <a:rPr lang="en-US" sz="2200" dirty="0">
                <a:latin typeface="Times New Roman" panose="02020603050405020304" pitchFamily="18" charset="0"/>
                <a:cs typeface="Times New Roman" panose="02020603050405020304" pitchFamily="18" charset="0"/>
              </a:rPr>
              <a:t>Length </a:t>
            </a:r>
          </a:p>
          <a:p>
            <a:pPr marL="742950" lvl="1" indent="-285750">
              <a:buFont typeface="+mj-lt"/>
              <a:buAutoNum type="arabicPeriod"/>
            </a:pPr>
            <a:r>
              <a:rPr lang="en-US" sz="2200" dirty="0">
                <a:latin typeface="Times New Roman" panose="02020603050405020304" pitchFamily="18" charset="0"/>
                <a:cs typeface="Times New Roman" panose="02020603050405020304" pitchFamily="18" charset="0"/>
              </a:rPr>
              <a:t>Uppercase letters </a:t>
            </a:r>
          </a:p>
          <a:p>
            <a:pPr marL="742950" lvl="1" indent="-285750">
              <a:buFont typeface="+mj-lt"/>
              <a:buAutoNum type="arabicPeriod"/>
            </a:pPr>
            <a:r>
              <a:rPr lang="en-US" sz="2200" dirty="0">
                <a:latin typeface="Times New Roman" panose="02020603050405020304" pitchFamily="18" charset="0"/>
                <a:cs typeface="Times New Roman" panose="02020603050405020304" pitchFamily="18" charset="0"/>
              </a:rPr>
              <a:t>Lowercase letters </a:t>
            </a:r>
          </a:p>
          <a:p>
            <a:pPr marL="742950" lvl="1" indent="-285750">
              <a:buFont typeface="+mj-lt"/>
              <a:buAutoNum type="arabicPeriod"/>
            </a:pPr>
            <a:r>
              <a:rPr lang="en-US" sz="2200" dirty="0">
                <a:latin typeface="Times New Roman" panose="02020603050405020304" pitchFamily="18" charset="0"/>
                <a:cs typeface="Times New Roman" panose="02020603050405020304" pitchFamily="18" charset="0"/>
              </a:rPr>
              <a:t>Numbers </a:t>
            </a:r>
          </a:p>
          <a:p>
            <a:pPr marL="742950" lvl="1" indent="-285750">
              <a:buFont typeface="+mj-lt"/>
              <a:buAutoNum type="arabicPeriod"/>
            </a:pPr>
            <a:r>
              <a:rPr lang="en-US" sz="2200" dirty="0">
                <a:latin typeface="Times New Roman" panose="02020603050405020304" pitchFamily="18" charset="0"/>
                <a:cs typeface="Times New Roman" panose="02020603050405020304" pitchFamily="18" charset="0"/>
              </a:rPr>
              <a:t>Special characters </a:t>
            </a:r>
          </a:p>
          <a:p>
            <a:pPr>
              <a:buFont typeface="+mj-lt"/>
              <a:buAutoNum type="arabicPeriod"/>
            </a:pPr>
            <a:r>
              <a:rPr lang="en-US" sz="2200" dirty="0">
                <a:latin typeface="Times New Roman" panose="02020603050405020304" pitchFamily="18" charset="0"/>
                <a:cs typeface="Times New Roman" panose="02020603050405020304" pitchFamily="18" charset="0"/>
              </a:rPr>
              <a:t>Calculates password strength. </a:t>
            </a:r>
          </a:p>
          <a:p>
            <a:pPr>
              <a:buFont typeface="+mj-lt"/>
              <a:buAutoNum type="arabicPeriod"/>
            </a:pPr>
            <a:r>
              <a:rPr lang="en-US" sz="2200" dirty="0">
                <a:latin typeface="Times New Roman" panose="02020603050405020304" pitchFamily="18" charset="0"/>
                <a:cs typeface="Times New Roman" panose="02020603050405020304" pitchFamily="18" charset="0"/>
              </a:rPr>
              <a:t>Displays result and suggestions. </a:t>
            </a:r>
          </a:p>
          <a:p>
            <a:endParaRPr lang="en-IN" dirty="0"/>
          </a:p>
        </p:txBody>
      </p:sp>
      <p:pic>
        <p:nvPicPr>
          <p:cNvPr id="4" name="Image 1">
            <a:extLst>
              <a:ext uri="{FF2B5EF4-FFF2-40B4-BE49-F238E27FC236}">
                <a16:creationId xmlns:a16="http://schemas.microsoft.com/office/drawing/2014/main" id="{13C2E4BB-ECD2-4B00-811A-27E038836737}"/>
              </a:ext>
            </a:extLst>
          </p:cNvPr>
          <p:cNvPicPr/>
          <p:nvPr/>
        </p:nvPicPr>
        <p:blipFill>
          <a:blip r:embed="rId2" cstate="print"/>
          <a:stretch>
            <a:fillRect/>
          </a:stretch>
        </p:blipFill>
        <p:spPr>
          <a:xfrm>
            <a:off x="226377" y="93662"/>
            <a:ext cx="1661690" cy="837671"/>
          </a:xfrm>
          <a:prstGeom prst="rect">
            <a:avLst/>
          </a:prstGeom>
        </p:spPr>
      </p:pic>
      <p:pic>
        <p:nvPicPr>
          <p:cNvPr id="5" name="Image 2">
            <a:extLst>
              <a:ext uri="{FF2B5EF4-FFF2-40B4-BE49-F238E27FC236}">
                <a16:creationId xmlns:a16="http://schemas.microsoft.com/office/drawing/2014/main" id="{CE3DEDCB-ECF4-4E52-99F8-0D78D0C76AC7}"/>
              </a:ext>
            </a:extLst>
          </p:cNvPr>
          <p:cNvPicPr/>
          <p:nvPr/>
        </p:nvPicPr>
        <p:blipFill>
          <a:blip r:embed="rId3" cstate="print"/>
          <a:stretch>
            <a:fillRect/>
          </a:stretch>
        </p:blipFill>
        <p:spPr>
          <a:xfrm>
            <a:off x="10963063" y="93662"/>
            <a:ext cx="916940" cy="904875"/>
          </a:xfrm>
          <a:prstGeom prst="rect">
            <a:avLst/>
          </a:prstGeom>
        </p:spPr>
      </p:pic>
    </p:spTree>
    <p:extLst>
      <p:ext uri="{BB962C8B-B14F-4D97-AF65-F5344CB8AC3E}">
        <p14:creationId xmlns:p14="http://schemas.microsoft.com/office/powerpoint/2010/main" val="1418590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BC469-C59F-46AC-A0B4-4F20E787D48A}"/>
              </a:ext>
            </a:extLst>
          </p:cNvPr>
          <p:cNvSpPr>
            <a:spLocks noGrp="1"/>
          </p:cNvSpPr>
          <p:nvPr>
            <p:ph type="title"/>
          </p:nvPr>
        </p:nvSpPr>
        <p:spPr>
          <a:xfrm>
            <a:off x="1124479" y="546099"/>
            <a:ext cx="8534400" cy="1507067"/>
          </a:xfrm>
        </p:spPr>
        <p:txBody>
          <a:bodyPr>
            <a:normAutofit/>
          </a:bodyPr>
          <a:lstStyle/>
          <a:p>
            <a:r>
              <a:rPr lang="en-IN" sz="3200" dirty="0">
                <a:latin typeface="Times New Roman" panose="02020603050405020304" pitchFamily="18" charset="0"/>
                <a:cs typeface="Times New Roman" panose="02020603050405020304" pitchFamily="18" charset="0"/>
              </a:rPr>
              <a:t>Flowchart:-</a:t>
            </a:r>
          </a:p>
        </p:txBody>
      </p:sp>
      <p:sp>
        <p:nvSpPr>
          <p:cNvPr id="3" name="Content Placeholder 2">
            <a:extLst>
              <a:ext uri="{FF2B5EF4-FFF2-40B4-BE49-F238E27FC236}">
                <a16:creationId xmlns:a16="http://schemas.microsoft.com/office/drawing/2014/main" id="{3B3F743C-16E6-4838-9206-E6331F05F282}"/>
              </a:ext>
            </a:extLst>
          </p:cNvPr>
          <p:cNvSpPr>
            <a:spLocks noGrp="1"/>
          </p:cNvSpPr>
          <p:nvPr>
            <p:ph idx="1"/>
          </p:nvPr>
        </p:nvSpPr>
        <p:spPr>
          <a:xfrm>
            <a:off x="1251478" y="3776134"/>
            <a:ext cx="8534400" cy="533400"/>
          </a:xfrm>
        </p:spPr>
        <p:txBody>
          <a:bodyPr>
            <a:noAutofit/>
          </a:bodyPr>
          <a:lstStyle/>
          <a:p>
            <a:r>
              <a:rPr lang="en-IN" sz="1600" dirty="0">
                <a:latin typeface="Times New Roman" panose="02020603050405020304" pitchFamily="18" charset="0"/>
                <a:cs typeface="Times New Roman" panose="02020603050405020304" pitchFamily="18" charset="0"/>
              </a:rPr>
              <a:t>Start</a:t>
            </a:r>
          </a:p>
          <a:p>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Enter Password</a:t>
            </a:r>
          </a:p>
          <a:p>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Check Rules</a:t>
            </a:r>
          </a:p>
          <a:p>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Calculate Score</a:t>
            </a:r>
          </a:p>
          <a:p>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Display Strength</a:t>
            </a:r>
          </a:p>
          <a:p>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Give Suggestions</a:t>
            </a:r>
          </a:p>
          <a:p>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End</a:t>
            </a:r>
          </a:p>
        </p:txBody>
      </p:sp>
      <p:pic>
        <p:nvPicPr>
          <p:cNvPr id="4" name="Image 2">
            <a:extLst>
              <a:ext uri="{FF2B5EF4-FFF2-40B4-BE49-F238E27FC236}">
                <a16:creationId xmlns:a16="http://schemas.microsoft.com/office/drawing/2014/main" id="{B46422EA-07C8-4344-AB1F-1F9C56C37F51}"/>
              </a:ext>
            </a:extLst>
          </p:cNvPr>
          <p:cNvPicPr/>
          <p:nvPr/>
        </p:nvPicPr>
        <p:blipFill>
          <a:blip r:embed="rId2" cstate="print"/>
          <a:stretch>
            <a:fillRect/>
          </a:stretch>
        </p:blipFill>
        <p:spPr>
          <a:xfrm>
            <a:off x="10963063" y="93662"/>
            <a:ext cx="916940" cy="904875"/>
          </a:xfrm>
          <a:prstGeom prst="rect">
            <a:avLst/>
          </a:prstGeom>
        </p:spPr>
      </p:pic>
      <p:pic>
        <p:nvPicPr>
          <p:cNvPr id="5" name="Image 1">
            <a:extLst>
              <a:ext uri="{FF2B5EF4-FFF2-40B4-BE49-F238E27FC236}">
                <a16:creationId xmlns:a16="http://schemas.microsoft.com/office/drawing/2014/main" id="{C6187665-1694-4763-BF63-D3342167DFB9}"/>
              </a:ext>
            </a:extLst>
          </p:cNvPr>
          <p:cNvPicPr/>
          <p:nvPr/>
        </p:nvPicPr>
        <p:blipFill>
          <a:blip r:embed="rId3" cstate="print"/>
          <a:stretch>
            <a:fillRect/>
          </a:stretch>
        </p:blipFill>
        <p:spPr>
          <a:xfrm>
            <a:off x="226377" y="93662"/>
            <a:ext cx="1661690" cy="837671"/>
          </a:xfrm>
          <a:prstGeom prst="rect">
            <a:avLst/>
          </a:prstGeom>
        </p:spPr>
      </p:pic>
    </p:spTree>
    <p:extLst>
      <p:ext uri="{BB962C8B-B14F-4D97-AF65-F5344CB8AC3E}">
        <p14:creationId xmlns:p14="http://schemas.microsoft.com/office/powerpoint/2010/main" val="3009315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3FD0E-D9E1-4946-8451-EC37E2DA3497}"/>
              </a:ext>
            </a:extLst>
          </p:cNvPr>
          <p:cNvSpPr>
            <a:spLocks noGrp="1"/>
          </p:cNvSpPr>
          <p:nvPr>
            <p:ph type="title"/>
          </p:nvPr>
        </p:nvSpPr>
        <p:spPr>
          <a:xfrm>
            <a:off x="802745" y="821266"/>
            <a:ext cx="8534400" cy="1507067"/>
          </a:xfrm>
        </p:spPr>
        <p:txBody>
          <a:bodyPr>
            <a:normAutofit/>
          </a:bodyPr>
          <a:lstStyle/>
          <a:p>
            <a:r>
              <a:rPr lang="en-IN" sz="3200" dirty="0">
                <a:latin typeface="Times New Roman" panose="02020603050405020304" pitchFamily="18" charset="0"/>
                <a:cs typeface="Times New Roman" panose="02020603050405020304" pitchFamily="18" charset="0"/>
              </a:rPr>
              <a:t>Strength Criteria:-</a:t>
            </a:r>
          </a:p>
        </p:txBody>
      </p:sp>
      <p:graphicFrame>
        <p:nvGraphicFramePr>
          <p:cNvPr id="6" name="Content Placeholder 5">
            <a:extLst>
              <a:ext uri="{FF2B5EF4-FFF2-40B4-BE49-F238E27FC236}">
                <a16:creationId xmlns:a16="http://schemas.microsoft.com/office/drawing/2014/main" id="{785A8CA3-88BE-400A-86BD-2593D19AD60D}"/>
              </a:ext>
            </a:extLst>
          </p:cNvPr>
          <p:cNvGraphicFramePr>
            <a:graphicFrameLocks noGrp="1"/>
          </p:cNvGraphicFramePr>
          <p:nvPr>
            <p:ph idx="1"/>
            <p:extLst>
              <p:ext uri="{D42A27DB-BD31-4B8C-83A1-F6EECF244321}">
                <p14:modId xmlns:p14="http://schemas.microsoft.com/office/powerpoint/2010/main" val="1838604190"/>
              </p:ext>
            </p:extLst>
          </p:nvPr>
        </p:nvGraphicFramePr>
        <p:xfrm>
          <a:off x="802745" y="2060256"/>
          <a:ext cx="7961922" cy="2918142"/>
        </p:xfrm>
        <a:graphic>
          <a:graphicData uri="http://schemas.openxmlformats.org/drawingml/2006/table">
            <a:tbl>
              <a:tblPr/>
              <a:tblGrid>
                <a:gridCol w="2288551">
                  <a:extLst>
                    <a:ext uri="{9D8B030D-6E8A-4147-A177-3AD203B41FA5}">
                      <a16:colId xmlns:a16="http://schemas.microsoft.com/office/drawing/2014/main" val="491206760"/>
                    </a:ext>
                  </a:extLst>
                </a:gridCol>
                <a:gridCol w="5673371">
                  <a:extLst>
                    <a:ext uri="{9D8B030D-6E8A-4147-A177-3AD203B41FA5}">
                      <a16:colId xmlns:a16="http://schemas.microsoft.com/office/drawing/2014/main" val="1160985194"/>
                    </a:ext>
                  </a:extLst>
                </a:gridCol>
              </a:tblGrid>
              <a:tr h="486357">
                <a:tc>
                  <a:txBody>
                    <a:bodyPr/>
                    <a:lstStyle/>
                    <a:p>
                      <a:r>
                        <a:rPr lang="en-IN" dirty="0">
                          <a:solidFill>
                            <a:schemeClr val="bg1"/>
                          </a:solidFill>
                        </a:rPr>
                        <a:t>Criteria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solidFill>
                            <a:schemeClr val="bg1"/>
                          </a:solidFill>
                        </a:rPr>
                        <a:t>Points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9310444"/>
                  </a:ext>
                </a:extLst>
              </a:tr>
              <a:tr h="486357">
                <a:tc>
                  <a:txBody>
                    <a:bodyPr/>
                    <a:lstStyle/>
                    <a:p>
                      <a:r>
                        <a:rPr lang="en-IN" dirty="0">
                          <a:solidFill>
                            <a:schemeClr val="bg1"/>
                          </a:solidFill>
                        </a:rPr>
                        <a:t>Length ≥ 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1535594"/>
                  </a:ext>
                </a:extLst>
              </a:tr>
              <a:tr h="486357">
                <a:tc>
                  <a:txBody>
                    <a:bodyPr/>
                    <a:lstStyle/>
                    <a:p>
                      <a:r>
                        <a:rPr lang="en-IN" dirty="0">
                          <a:solidFill>
                            <a:schemeClr val="bg1"/>
                          </a:solidFill>
                        </a:rPr>
                        <a:t>Uppercase Letter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solidFill>
                            <a:schemeClr val="bg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6114691"/>
                  </a:ext>
                </a:extLst>
              </a:tr>
              <a:tr h="486357">
                <a:tc>
                  <a:txBody>
                    <a:bodyPr/>
                    <a:lstStyle/>
                    <a:p>
                      <a:r>
                        <a:rPr lang="en-IN" dirty="0">
                          <a:solidFill>
                            <a:schemeClr val="bg1"/>
                          </a:solidFill>
                        </a:rPr>
                        <a:t>Lowercase Letter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2908596"/>
                  </a:ext>
                </a:extLst>
              </a:tr>
              <a:tr h="486357">
                <a:tc>
                  <a:txBody>
                    <a:bodyPr/>
                    <a:lstStyle/>
                    <a:p>
                      <a:r>
                        <a:rPr lang="en-IN" dirty="0">
                          <a:solidFill>
                            <a:schemeClr val="bg1"/>
                          </a:solidFill>
                        </a:rPr>
                        <a:t>Number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2404919"/>
                  </a:ext>
                </a:extLst>
              </a:tr>
              <a:tr h="486357">
                <a:tc>
                  <a:txBody>
                    <a:bodyPr/>
                    <a:lstStyle/>
                    <a:p>
                      <a:r>
                        <a:rPr lang="en-IN" dirty="0">
                          <a:solidFill>
                            <a:schemeClr val="bg1"/>
                          </a:solidFill>
                        </a:rPr>
                        <a:t>Special Character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3156500"/>
                  </a:ext>
                </a:extLst>
              </a:tr>
            </a:tbl>
          </a:graphicData>
        </a:graphic>
      </p:graphicFrame>
      <p:pic>
        <p:nvPicPr>
          <p:cNvPr id="4" name="Image 1">
            <a:extLst>
              <a:ext uri="{FF2B5EF4-FFF2-40B4-BE49-F238E27FC236}">
                <a16:creationId xmlns:a16="http://schemas.microsoft.com/office/drawing/2014/main" id="{D1CDD055-F3A2-4634-911D-9170BFF6B71D}"/>
              </a:ext>
            </a:extLst>
          </p:cNvPr>
          <p:cNvPicPr/>
          <p:nvPr/>
        </p:nvPicPr>
        <p:blipFill>
          <a:blip r:embed="rId2" cstate="print"/>
          <a:stretch>
            <a:fillRect/>
          </a:stretch>
        </p:blipFill>
        <p:spPr>
          <a:xfrm>
            <a:off x="226377" y="93662"/>
            <a:ext cx="1661690" cy="837671"/>
          </a:xfrm>
          <a:prstGeom prst="rect">
            <a:avLst/>
          </a:prstGeom>
        </p:spPr>
      </p:pic>
      <p:pic>
        <p:nvPicPr>
          <p:cNvPr id="5" name="Image 2">
            <a:extLst>
              <a:ext uri="{FF2B5EF4-FFF2-40B4-BE49-F238E27FC236}">
                <a16:creationId xmlns:a16="http://schemas.microsoft.com/office/drawing/2014/main" id="{1B01D646-773E-4B35-A7C3-1AF589303517}"/>
              </a:ext>
            </a:extLst>
          </p:cNvPr>
          <p:cNvPicPr/>
          <p:nvPr/>
        </p:nvPicPr>
        <p:blipFill>
          <a:blip r:embed="rId3" cstate="print"/>
          <a:stretch>
            <a:fillRect/>
          </a:stretch>
        </p:blipFill>
        <p:spPr>
          <a:xfrm>
            <a:off x="10963063" y="93662"/>
            <a:ext cx="916940" cy="904875"/>
          </a:xfrm>
          <a:prstGeom prst="rect">
            <a:avLst/>
          </a:prstGeom>
        </p:spPr>
      </p:pic>
    </p:spTree>
    <p:extLst>
      <p:ext uri="{BB962C8B-B14F-4D97-AF65-F5344CB8AC3E}">
        <p14:creationId xmlns:p14="http://schemas.microsoft.com/office/powerpoint/2010/main" val="9593539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6299F-B9D7-46BE-A9F1-DAA0A48D2DB4}"/>
              </a:ext>
            </a:extLst>
          </p:cNvPr>
          <p:cNvSpPr>
            <a:spLocks noGrp="1"/>
          </p:cNvSpPr>
          <p:nvPr>
            <p:ph type="title"/>
          </p:nvPr>
        </p:nvSpPr>
        <p:spPr>
          <a:xfrm>
            <a:off x="743480" y="1346198"/>
            <a:ext cx="8534400" cy="1507067"/>
          </a:xfrm>
        </p:spPr>
        <p:txBody>
          <a:bodyPr>
            <a:normAutofit/>
          </a:bodyPr>
          <a:lstStyle/>
          <a:p>
            <a:r>
              <a:rPr lang="en-IN" sz="3200" dirty="0">
                <a:latin typeface="Times New Roman" panose="02020603050405020304" pitchFamily="18" charset="0"/>
                <a:cs typeface="Times New Roman" panose="02020603050405020304" pitchFamily="18" charset="0"/>
              </a:rPr>
              <a:t>Advantages:-</a:t>
            </a:r>
          </a:p>
        </p:txBody>
      </p:sp>
      <p:sp>
        <p:nvSpPr>
          <p:cNvPr id="3" name="Content Placeholder 2">
            <a:extLst>
              <a:ext uri="{FF2B5EF4-FFF2-40B4-BE49-F238E27FC236}">
                <a16:creationId xmlns:a16="http://schemas.microsoft.com/office/drawing/2014/main" id="{B04CAAD8-97D7-4562-AF5A-65E677EF3246}"/>
              </a:ext>
            </a:extLst>
          </p:cNvPr>
          <p:cNvSpPr>
            <a:spLocks noGrp="1"/>
          </p:cNvSpPr>
          <p:nvPr>
            <p:ph idx="1"/>
          </p:nvPr>
        </p:nvSpPr>
        <p:spPr>
          <a:xfrm>
            <a:off x="624947" y="2099731"/>
            <a:ext cx="8534400" cy="3615267"/>
          </a:xfrm>
        </p:spPr>
        <p:txBody>
          <a:bodyPr/>
          <a:lstStyle/>
          <a:p>
            <a:pPr>
              <a:buFont typeface="Wingdings" panose="05000000000000000000" pitchFamily="2" charset="2"/>
              <a:buChar char="q"/>
            </a:pPr>
            <a:r>
              <a:rPr lang="en-US" dirty="0"/>
              <a:t>Improves password security. </a:t>
            </a:r>
          </a:p>
          <a:p>
            <a:pPr>
              <a:buFont typeface="Wingdings" panose="05000000000000000000" pitchFamily="2" charset="2"/>
              <a:buChar char="q"/>
            </a:pPr>
            <a:r>
              <a:rPr lang="en-US" dirty="0"/>
              <a:t>Easy to use. </a:t>
            </a:r>
          </a:p>
          <a:p>
            <a:pPr>
              <a:buFont typeface="Wingdings" panose="05000000000000000000" pitchFamily="2" charset="2"/>
              <a:buChar char="q"/>
            </a:pPr>
            <a:r>
              <a:rPr lang="en-US" dirty="0"/>
              <a:t>Helps prevent hacking. </a:t>
            </a:r>
          </a:p>
          <a:p>
            <a:pPr>
              <a:buFont typeface="Wingdings" panose="05000000000000000000" pitchFamily="2" charset="2"/>
              <a:buChar char="q"/>
            </a:pPr>
            <a:r>
              <a:rPr lang="en-US" dirty="0"/>
              <a:t>Encourages good password habits. </a:t>
            </a:r>
          </a:p>
          <a:p>
            <a:pPr>
              <a:buFont typeface="Wingdings" panose="05000000000000000000" pitchFamily="2" charset="2"/>
              <a:buChar char="q"/>
            </a:pPr>
            <a:r>
              <a:rPr lang="en-US" dirty="0"/>
              <a:t>Provides instant feedback. </a:t>
            </a:r>
          </a:p>
          <a:p>
            <a:endParaRPr lang="en-IN" dirty="0"/>
          </a:p>
        </p:txBody>
      </p:sp>
      <p:pic>
        <p:nvPicPr>
          <p:cNvPr id="4" name="Image 2">
            <a:extLst>
              <a:ext uri="{FF2B5EF4-FFF2-40B4-BE49-F238E27FC236}">
                <a16:creationId xmlns:a16="http://schemas.microsoft.com/office/drawing/2014/main" id="{B8056620-905A-4275-961F-AD9127C99D97}"/>
              </a:ext>
            </a:extLst>
          </p:cNvPr>
          <p:cNvPicPr/>
          <p:nvPr/>
        </p:nvPicPr>
        <p:blipFill>
          <a:blip r:embed="rId2" cstate="print"/>
          <a:stretch>
            <a:fillRect/>
          </a:stretch>
        </p:blipFill>
        <p:spPr>
          <a:xfrm>
            <a:off x="10963063" y="93662"/>
            <a:ext cx="916940" cy="904875"/>
          </a:xfrm>
          <a:prstGeom prst="rect">
            <a:avLst/>
          </a:prstGeom>
        </p:spPr>
      </p:pic>
      <p:pic>
        <p:nvPicPr>
          <p:cNvPr id="5" name="Image 1">
            <a:extLst>
              <a:ext uri="{FF2B5EF4-FFF2-40B4-BE49-F238E27FC236}">
                <a16:creationId xmlns:a16="http://schemas.microsoft.com/office/drawing/2014/main" id="{C9177FEB-85BD-48C1-89ED-1FAE71889DBD}"/>
              </a:ext>
            </a:extLst>
          </p:cNvPr>
          <p:cNvPicPr/>
          <p:nvPr/>
        </p:nvPicPr>
        <p:blipFill>
          <a:blip r:embed="rId3" cstate="print"/>
          <a:stretch>
            <a:fillRect/>
          </a:stretch>
        </p:blipFill>
        <p:spPr>
          <a:xfrm>
            <a:off x="226377" y="93662"/>
            <a:ext cx="1661690" cy="837671"/>
          </a:xfrm>
          <a:prstGeom prst="rect">
            <a:avLst/>
          </a:prstGeom>
        </p:spPr>
      </p:pic>
    </p:spTree>
    <p:extLst>
      <p:ext uri="{BB962C8B-B14F-4D97-AF65-F5344CB8AC3E}">
        <p14:creationId xmlns:p14="http://schemas.microsoft.com/office/powerpoint/2010/main" val="17923789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611A-97D4-4F4E-BAF5-9057C9434A39}"/>
              </a:ext>
            </a:extLst>
          </p:cNvPr>
          <p:cNvSpPr>
            <a:spLocks noGrp="1"/>
          </p:cNvSpPr>
          <p:nvPr>
            <p:ph type="title"/>
          </p:nvPr>
        </p:nvSpPr>
        <p:spPr>
          <a:xfrm>
            <a:off x="572558" y="1193799"/>
            <a:ext cx="8534400" cy="1507067"/>
          </a:xfrm>
        </p:spPr>
        <p:txBody>
          <a:bodyPr>
            <a:normAutofit/>
          </a:bodyPr>
          <a:lstStyle/>
          <a:p>
            <a:r>
              <a:rPr lang="en-IN" sz="3200" dirty="0">
                <a:latin typeface="Times New Roman" panose="02020603050405020304" pitchFamily="18" charset="0"/>
                <a:cs typeface="Times New Roman" panose="02020603050405020304" pitchFamily="18" charset="0"/>
              </a:rPr>
              <a:t>Limitations:-</a:t>
            </a:r>
          </a:p>
        </p:txBody>
      </p:sp>
      <p:sp>
        <p:nvSpPr>
          <p:cNvPr id="4" name="Rectangle 1">
            <a:extLst>
              <a:ext uri="{FF2B5EF4-FFF2-40B4-BE49-F238E27FC236}">
                <a16:creationId xmlns:a16="http://schemas.microsoft.com/office/drawing/2014/main" id="{9879E1A2-4B3F-4F2B-875F-681A8A6C90AF}"/>
              </a:ext>
            </a:extLst>
          </p:cNvPr>
          <p:cNvSpPr>
            <a:spLocks noGrp="1" noChangeArrowheads="1"/>
          </p:cNvSpPr>
          <p:nvPr>
            <p:ph idx="1"/>
          </p:nvPr>
        </p:nvSpPr>
        <p:spPr bwMode="auto">
          <a:xfrm>
            <a:off x="624946" y="2424437"/>
            <a:ext cx="7124066" cy="1661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Cannot stop phishing attacks.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Cannot guarantee complete security.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Password reuse across websites remains a risk. </a:t>
            </a:r>
          </a:p>
        </p:txBody>
      </p:sp>
      <p:pic>
        <p:nvPicPr>
          <p:cNvPr id="5" name="Image 1">
            <a:extLst>
              <a:ext uri="{FF2B5EF4-FFF2-40B4-BE49-F238E27FC236}">
                <a16:creationId xmlns:a16="http://schemas.microsoft.com/office/drawing/2014/main" id="{C7845B94-6A33-4197-95AA-86C05CB7BAA5}"/>
              </a:ext>
            </a:extLst>
          </p:cNvPr>
          <p:cNvPicPr/>
          <p:nvPr/>
        </p:nvPicPr>
        <p:blipFill>
          <a:blip r:embed="rId2" cstate="print"/>
          <a:stretch>
            <a:fillRect/>
          </a:stretch>
        </p:blipFill>
        <p:spPr>
          <a:xfrm>
            <a:off x="226377" y="93662"/>
            <a:ext cx="1661690" cy="837671"/>
          </a:xfrm>
          <a:prstGeom prst="rect">
            <a:avLst/>
          </a:prstGeom>
        </p:spPr>
      </p:pic>
      <p:pic>
        <p:nvPicPr>
          <p:cNvPr id="6" name="Image 2">
            <a:extLst>
              <a:ext uri="{FF2B5EF4-FFF2-40B4-BE49-F238E27FC236}">
                <a16:creationId xmlns:a16="http://schemas.microsoft.com/office/drawing/2014/main" id="{60920851-83D8-4121-BCCF-8B888D985663}"/>
              </a:ext>
            </a:extLst>
          </p:cNvPr>
          <p:cNvPicPr/>
          <p:nvPr/>
        </p:nvPicPr>
        <p:blipFill>
          <a:blip r:embed="rId3" cstate="print"/>
          <a:stretch>
            <a:fillRect/>
          </a:stretch>
        </p:blipFill>
        <p:spPr>
          <a:xfrm>
            <a:off x="10963063" y="93662"/>
            <a:ext cx="916940" cy="904875"/>
          </a:xfrm>
          <a:prstGeom prst="rect">
            <a:avLst/>
          </a:prstGeom>
        </p:spPr>
      </p:pic>
    </p:spTree>
    <p:extLst>
      <p:ext uri="{BB962C8B-B14F-4D97-AF65-F5344CB8AC3E}">
        <p14:creationId xmlns:p14="http://schemas.microsoft.com/office/powerpoint/2010/main" val="3219577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C7EA6-C429-46D2-9AE1-0B6CEAFA58F6}"/>
              </a:ext>
            </a:extLst>
          </p:cNvPr>
          <p:cNvSpPr>
            <a:spLocks noGrp="1"/>
          </p:cNvSpPr>
          <p:nvPr>
            <p:ph type="title"/>
          </p:nvPr>
        </p:nvSpPr>
        <p:spPr>
          <a:xfrm>
            <a:off x="633412" y="1202266"/>
            <a:ext cx="8534400" cy="1507067"/>
          </a:xfrm>
        </p:spPr>
        <p:txBody>
          <a:bodyPr>
            <a:normAutofit/>
          </a:bodyPr>
          <a:lstStyle/>
          <a:p>
            <a:r>
              <a:rPr lang="en-IN" sz="3200" dirty="0">
                <a:latin typeface="Times New Roman" panose="02020603050405020304" pitchFamily="18" charset="0"/>
                <a:cs typeface="Times New Roman" panose="02020603050405020304" pitchFamily="18" charset="0"/>
              </a:rPr>
              <a:t>Future Enhancements:-</a:t>
            </a:r>
          </a:p>
        </p:txBody>
      </p:sp>
      <p:pic>
        <p:nvPicPr>
          <p:cNvPr id="4" name="Image 1">
            <a:extLst>
              <a:ext uri="{FF2B5EF4-FFF2-40B4-BE49-F238E27FC236}">
                <a16:creationId xmlns:a16="http://schemas.microsoft.com/office/drawing/2014/main" id="{79F56D69-4C72-46D4-AA20-C3EE142D2FCA}"/>
              </a:ext>
            </a:extLst>
          </p:cNvPr>
          <p:cNvPicPr/>
          <p:nvPr/>
        </p:nvPicPr>
        <p:blipFill>
          <a:blip r:embed="rId2" cstate="print"/>
          <a:stretch>
            <a:fillRect/>
          </a:stretch>
        </p:blipFill>
        <p:spPr>
          <a:xfrm>
            <a:off x="226377" y="93662"/>
            <a:ext cx="1661690" cy="837671"/>
          </a:xfrm>
          <a:prstGeom prst="rect">
            <a:avLst/>
          </a:prstGeom>
        </p:spPr>
      </p:pic>
      <p:pic>
        <p:nvPicPr>
          <p:cNvPr id="5" name="Image 2">
            <a:extLst>
              <a:ext uri="{FF2B5EF4-FFF2-40B4-BE49-F238E27FC236}">
                <a16:creationId xmlns:a16="http://schemas.microsoft.com/office/drawing/2014/main" id="{0A0ACFCF-40AB-4851-A5CE-1717D9A11A99}"/>
              </a:ext>
            </a:extLst>
          </p:cNvPr>
          <p:cNvPicPr/>
          <p:nvPr/>
        </p:nvPicPr>
        <p:blipFill>
          <a:blip r:embed="rId3" cstate="print"/>
          <a:stretch>
            <a:fillRect/>
          </a:stretch>
        </p:blipFill>
        <p:spPr>
          <a:xfrm>
            <a:off x="10963063" y="93662"/>
            <a:ext cx="916940" cy="904875"/>
          </a:xfrm>
          <a:prstGeom prst="rect">
            <a:avLst/>
          </a:prstGeom>
        </p:spPr>
      </p:pic>
      <p:sp>
        <p:nvSpPr>
          <p:cNvPr id="6" name="Rectangle 1">
            <a:extLst>
              <a:ext uri="{FF2B5EF4-FFF2-40B4-BE49-F238E27FC236}">
                <a16:creationId xmlns:a16="http://schemas.microsoft.com/office/drawing/2014/main" id="{6C99DEFC-EA62-4F2F-AFD1-1BCF53A5ADD2}"/>
              </a:ext>
            </a:extLst>
          </p:cNvPr>
          <p:cNvSpPr>
            <a:spLocks noGrp="1" noChangeArrowheads="1"/>
          </p:cNvSpPr>
          <p:nvPr>
            <p:ph idx="1"/>
          </p:nvPr>
        </p:nvSpPr>
        <p:spPr bwMode="auto">
          <a:xfrm>
            <a:off x="760941" y="2151671"/>
            <a:ext cx="5000087" cy="2215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Password breach checking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Password generator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Multi-factor authentication (MFA)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AI-based password recommendations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Biometric authentication support </a:t>
            </a:r>
          </a:p>
        </p:txBody>
      </p:sp>
    </p:spTree>
    <p:extLst>
      <p:ext uri="{BB962C8B-B14F-4D97-AF65-F5344CB8AC3E}">
        <p14:creationId xmlns:p14="http://schemas.microsoft.com/office/powerpoint/2010/main" val="31953202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0F132-83C3-4902-A263-13CA0289C373}"/>
              </a:ext>
            </a:extLst>
          </p:cNvPr>
          <p:cNvSpPr>
            <a:spLocks noGrp="1"/>
          </p:cNvSpPr>
          <p:nvPr>
            <p:ph type="title"/>
          </p:nvPr>
        </p:nvSpPr>
        <p:spPr>
          <a:xfrm>
            <a:off x="760412" y="1168399"/>
            <a:ext cx="8534400" cy="1507067"/>
          </a:xfrm>
        </p:spPr>
        <p:txBody>
          <a:bodyPr>
            <a:normAutofit/>
          </a:bodyPr>
          <a:lstStyle/>
          <a:p>
            <a:r>
              <a:rPr lang="en-IN" sz="3200" dirty="0">
                <a:latin typeface="Times New Roman" panose="02020603050405020304" pitchFamily="18" charset="0"/>
                <a:cs typeface="Times New Roman" panose="02020603050405020304" pitchFamily="18" charset="0"/>
              </a:rPr>
              <a:t>Applications:-</a:t>
            </a:r>
          </a:p>
        </p:txBody>
      </p:sp>
      <p:sp>
        <p:nvSpPr>
          <p:cNvPr id="3" name="Content Placeholder 2">
            <a:extLst>
              <a:ext uri="{FF2B5EF4-FFF2-40B4-BE49-F238E27FC236}">
                <a16:creationId xmlns:a16="http://schemas.microsoft.com/office/drawing/2014/main" id="{D9128E12-5469-445A-A56F-86AAE3207CB8}"/>
              </a:ext>
            </a:extLst>
          </p:cNvPr>
          <p:cNvSpPr>
            <a:spLocks noGrp="1"/>
          </p:cNvSpPr>
          <p:nvPr>
            <p:ph idx="1"/>
          </p:nvPr>
        </p:nvSpPr>
        <p:spPr>
          <a:xfrm>
            <a:off x="760412" y="2074334"/>
            <a:ext cx="8534400" cy="3615267"/>
          </a:xfrm>
        </p:spPr>
        <p:txBody>
          <a:bodyPr/>
          <a:lstStyle/>
          <a:p>
            <a:pPr>
              <a:buFont typeface="Arial" panose="020B0604020202020204" pitchFamily="34" charset="0"/>
              <a:buChar char="•"/>
            </a:pPr>
            <a:r>
              <a:rPr lang="en-US" dirty="0"/>
              <a:t>Banking systems </a:t>
            </a:r>
          </a:p>
          <a:p>
            <a:pPr>
              <a:buFont typeface="Arial" panose="020B0604020202020204" pitchFamily="34" charset="0"/>
              <a:buChar char="•"/>
            </a:pPr>
            <a:r>
              <a:rPr lang="en-US" dirty="0"/>
              <a:t>Email accounts </a:t>
            </a:r>
          </a:p>
          <a:p>
            <a:pPr>
              <a:buFont typeface="Arial" panose="020B0604020202020204" pitchFamily="34" charset="0"/>
              <a:buChar char="•"/>
            </a:pPr>
            <a:r>
              <a:rPr lang="en-US" dirty="0"/>
              <a:t>Social media platforms </a:t>
            </a:r>
          </a:p>
          <a:p>
            <a:pPr>
              <a:buFont typeface="Arial" panose="020B0604020202020204" pitchFamily="34" charset="0"/>
              <a:buChar char="•"/>
            </a:pPr>
            <a:r>
              <a:rPr lang="en-US" dirty="0"/>
              <a:t>Educational portals </a:t>
            </a:r>
          </a:p>
          <a:p>
            <a:pPr>
              <a:buFont typeface="Arial" panose="020B0604020202020204" pitchFamily="34" charset="0"/>
              <a:buChar char="•"/>
            </a:pPr>
            <a:r>
              <a:rPr lang="en-US" dirty="0"/>
              <a:t>E-commerce websites </a:t>
            </a:r>
          </a:p>
          <a:p>
            <a:endParaRPr lang="en-IN" dirty="0"/>
          </a:p>
        </p:txBody>
      </p:sp>
      <p:pic>
        <p:nvPicPr>
          <p:cNvPr id="4" name="Image 1">
            <a:extLst>
              <a:ext uri="{FF2B5EF4-FFF2-40B4-BE49-F238E27FC236}">
                <a16:creationId xmlns:a16="http://schemas.microsoft.com/office/drawing/2014/main" id="{A699FE1B-C1C6-45E8-B403-2C9DF55C7D9C}"/>
              </a:ext>
            </a:extLst>
          </p:cNvPr>
          <p:cNvPicPr/>
          <p:nvPr/>
        </p:nvPicPr>
        <p:blipFill>
          <a:blip r:embed="rId2" cstate="print"/>
          <a:stretch>
            <a:fillRect/>
          </a:stretch>
        </p:blipFill>
        <p:spPr>
          <a:xfrm>
            <a:off x="226377" y="93662"/>
            <a:ext cx="1661690" cy="837671"/>
          </a:xfrm>
          <a:prstGeom prst="rect">
            <a:avLst/>
          </a:prstGeom>
        </p:spPr>
      </p:pic>
      <p:pic>
        <p:nvPicPr>
          <p:cNvPr id="5" name="Image 2">
            <a:extLst>
              <a:ext uri="{FF2B5EF4-FFF2-40B4-BE49-F238E27FC236}">
                <a16:creationId xmlns:a16="http://schemas.microsoft.com/office/drawing/2014/main" id="{FE253FA0-9CC4-4037-B545-98BDD88DFF9B}"/>
              </a:ext>
            </a:extLst>
          </p:cNvPr>
          <p:cNvPicPr/>
          <p:nvPr/>
        </p:nvPicPr>
        <p:blipFill>
          <a:blip r:embed="rId3" cstate="print"/>
          <a:stretch>
            <a:fillRect/>
          </a:stretch>
        </p:blipFill>
        <p:spPr>
          <a:xfrm>
            <a:off x="10963063" y="93662"/>
            <a:ext cx="916940" cy="904875"/>
          </a:xfrm>
          <a:prstGeom prst="rect">
            <a:avLst/>
          </a:prstGeom>
        </p:spPr>
      </p:pic>
    </p:spTree>
    <p:extLst>
      <p:ext uri="{BB962C8B-B14F-4D97-AF65-F5344CB8AC3E}">
        <p14:creationId xmlns:p14="http://schemas.microsoft.com/office/powerpoint/2010/main" val="31169838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B1AAC-81FE-4D78-BB87-7CB3B3832D25}"/>
              </a:ext>
            </a:extLst>
          </p:cNvPr>
          <p:cNvSpPr>
            <a:spLocks noGrp="1"/>
          </p:cNvSpPr>
          <p:nvPr>
            <p:ph type="title"/>
          </p:nvPr>
        </p:nvSpPr>
        <p:spPr>
          <a:xfrm>
            <a:off x="777346" y="1286668"/>
            <a:ext cx="8534400" cy="1507067"/>
          </a:xfrm>
        </p:spPr>
        <p:txBody>
          <a:bodyPr>
            <a:normAutofit/>
          </a:bodyPr>
          <a:lstStyle/>
          <a:p>
            <a:r>
              <a:rPr lang="en-IN" sz="3200"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471A57B0-B571-455F-8D45-D3AE221DA5D5}"/>
              </a:ext>
            </a:extLst>
          </p:cNvPr>
          <p:cNvSpPr>
            <a:spLocks noGrp="1"/>
          </p:cNvSpPr>
          <p:nvPr>
            <p:ph idx="1"/>
          </p:nvPr>
        </p:nvSpPr>
        <p:spPr>
          <a:xfrm>
            <a:off x="777346" y="1845204"/>
            <a:ext cx="8534400" cy="3615267"/>
          </a:xfrm>
        </p:spPr>
        <p:txBody>
          <a:bodyPr/>
          <a:lstStyle/>
          <a:p>
            <a:pPr>
              <a:buFont typeface="Arial" panose="020B0604020202020204" pitchFamily="34" charset="0"/>
              <a:buChar char="•"/>
            </a:pPr>
            <a:r>
              <a:rPr lang="en-US" dirty="0"/>
              <a:t>Strong passwords are essential for protecting digital accounts. </a:t>
            </a:r>
          </a:p>
          <a:p>
            <a:pPr>
              <a:buFont typeface="Arial" panose="020B0604020202020204" pitchFamily="34" charset="0"/>
              <a:buChar char="•"/>
            </a:pPr>
            <a:r>
              <a:rPr lang="en-US" dirty="0"/>
              <a:t>A Password Strength Checker helps users create more secure passwords. </a:t>
            </a:r>
          </a:p>
          <a:p>
            <a:pPr>
              <a:buFont typeface="Arial" panose="020B0604020202020204" pitchFamily="34" charset="0"/>
              <a:buChar char="•"/>
            </a:pPr>
            <a:r>
              <a:rPr lang="en-US" dirty="0"/>
              <a:t>Combining strong passwords with security features like MFA provides better protection. </a:t>
            </a:r>
          </a:p>
          <a:p>
            <a:endParaRPr lang="en-IN" dirty="0"/>
          </a:p>
        </p:txBody>
      </p:sp>
      <p:pic>
        <p:nvPicPr>
          <p:cNvPr id="4" name="Image 1">
            <a:extLst>
              <a:ext uri="{FF2B5EF4-FFF2-40B4-BE49-F238E27FC236}">
                <a16:creationId xmlns:a16="http://schemas.microsoft.com/office/drawing/2014/main" id="{6584BE76-DD6E-4C27-A938-9D9C4EFE06AF}"/>
              </a:ext>
            </a:extLst>
          </p:cNvPr>
          <p:cNvPicPr/>
          <p:nvPr/>
        </p:nvPicPr>
        <p:blipFill>
          <a:blip r:embed="rId2" cstate="print"/>
          <a:stretch>
            <a:fillRect/>
          </a:stretch>
        </p:blipFill>
        <p:spPr>
          <a:xfrm>
            <a:off x="226377" y="93662"/>
            <a:ext cx="1661690" cy="837671"/>
          </a:xfrm>
          <a:prstGeom prst="rect">
            <a:avLst/>
          </a:prstGeom>
        </p:spPr>
      </p:pic>
      <p:pic>
        <p:nvPicPr>
          <p:cNvPr id="5" name="Image 2">
            <a:extLst>
              <a:ext uri="{FF2B5EF4-FFF2-40B4-BE49-F238E27FC236}">
                <a16:creationId xmlns:a16="http://schemas.microsoft.com/office/drawing/2014/main" id="{E00C3B89-D3A2-41CC-8F21-481B43B4D4A9}"/>
              </a:ext>
            </a:extLst>
          </p:cNvPr>
          <p:cNvPicPr/>
          <p:nvPr/>
        </p:nvPicPr>
        <p:blipFill>
          <a:blip r:embed="rId3" cstate="print"/>
          <a:stretch>
            <a:fillRect/>
          </a:stretch>
        </p:blipFill>
        <p:spPr>
          <a:xfrm>
            <a:off x="10963063" y="93662"/>
            <a:ext cx="916940" cy="904875"/>
          </a:xfrm>
          <a:prstGeom prst="rect">
            <a:avLst/>
          </a:prstGeom>
        </p:spPr>
      </p:pic>
    </p:spTree>
    <p:extLst>
      <p:ext uri="{BB962C8B-B14F-4D97-AF65-F5344CB8AC3E}">
        <p14:creationId xmlns:p14="http://schemas.microsoft.com/office/powerpoint/2010/main" val="266707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E1394-C938-4A6B-B7CE-032EB058ACB5}"/>
              </a:ext>
            </a:extLst>
          </p:cNvPr>
          <p:cNvSpPr>
            <a:spLocks noGrp="1"/>
          </p:cNvSpPr>
          <p:nvPr>
            <p:ph type="title"/>
          </p:nvPr>
        </p:nvSpPr>
        <p:spPr>
          <a:xfrm>
            <a:off x="1102592" y="260549"/>
            <a:ext cx="8534400" cy="1507067"/>
          </a:xfrm>
        </p:spPr>
        <p:txBody>
          <a:bodyPr/>
          <a:lstStyle/>
          <a:p>
            <a:endParaRPr lang="en-IN" dirty="0"/>
          </a:p>
        </p:txBody>
      </p:sp>
      <p:sp>
        <p:nvSpPr>
          <p:cNvPr id="3" name="Content Placeholder 2">
            <a:extLst>
              <a:ext uri="{FF2B5EF4-FFF2-40B4-BE49-F238E27FC236}">
                <a16:creationId xmlns:a16="http://schemas.microsoft.com/office/drawing/2014/main" id="{8BA742BF-4251-4DAB-AA68-87DA76F6EF5F}"/>
              </a:ext>
            </a:extLst>
          </p:cNvPr>
          <p:cNvSpPr>
            <a:spLocks noGrp="1"/>
          </p:cNvSpPr>
          <p:nvPr>
            <p:ph idx="1"/>
          </p:nvPr>
        </p:nvSpPr>
        <p:spPr>
          <a:xfrm>
            <a:off x="2555008" y="1176867"/>
            <a:ext cx="9413345" cy="3615267"/>
          </a:xfrm>
        </p:spPr>
        <p:txBody>
          <a:bodyPr>
            <a:normAutofit/>
          </a:bodyPr>
          <a:lstStyle/>
          <a:p>
            <a:r>
              <a:rPr lang="en-US" sz="5400" dirty="0">
                <a:latin typeface="Times New Roman" panose="02020603050405020304" pitchFamily="18" charset="0"/>
                <a:cs typeface="Times New Roman" panose="02020603050405020304" pitchFamily="18" charset="0"/>
              </a:rPr>
              <a:t>THANK YOU </a:t>
            </a:r>
            <a:endParaRPr lang="en-IN" sz="5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1711001"/>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105</TotalTime>
  <Words>504</Words>
  <Application>Microsoft Office PowerPoint</Application>
  <PresentationFormat>Widescreen</PresentationFormat>
  <Paragraphs>107</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Century Gothic</vt:lpstr>
      <vt:lpstr>Times New Roman</vt:lpstr>
      <vt:lpstr>Wingdings</vt:lpstr>
      <vt:lpstr>Wingdings 3</vt:lpstr>
      <vt:lpstr>Slice</vt:lpstr>
      <vt:lpstr>Project Title :- PASSWOD STRENGTH CHECKER GTU SBTP -2026 (Subject Code: DI05000011) </vt:lpstr>
      <vt:lpstr> Introduction:-</vt:lpstr>
      <vt:lpstr>Problem StatemENT </vt:lpstr>
      <vt:lpstr>Objectives:- </vt:lpstr>
      <vt:lpstr>Features:-</vt:lpstr>
      <vt:lpstr>Technologies Used:-</vt:lpstr>
      <vt:lpstr>Working Process:-</vt:lpstr>
      <vt:lpstr>Flowchart:-</vt:lpstr>
      <vt:lpstr>Strength Criteria:-</vt:lpstr>
      <vt:lpstr>Advantages:-</vt:lpstr>
      <vt:lpstr>Limitations:-</vt:lpstr>
      <vt:lpstr>Future Enhancements:-</vt:lpstr>
      <vt:lpstr>Applications:-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 GTU SBTP -2026 (Subject Code: DI05000011)</dc:title>
  <dc:creator>Asus</dc:creator>
  <cp:lastModifiedBy>Asus</cp:lastModifiedBy>
  <cp:revision>8</cp:revision>
  <dcterms:created xsi:type="dcterms:W3CDTF">2026-06-26T08:42:43Z</dcterms:created>
  <dcterms:modified xsi:type="dcterms:W3CDTF">2026-06-26T11:13:57Z</dcterms:modified>
</cp:coreProperties>
</file>